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6A6480"/>
                </a:solidFill>
                <a:latin typeface="Calibri"/>
              </a:defRPr>
            </a:pPr>
            <a:r>
              <a:rPr sz="1100" b="0" i="0" u="none" strike="noStrike">
                <a:solidFill>
                  <a:srgbClr val="6A6480"/>
                </a:solidFill>
                <a:latin typeface="Calibri"/>
              </a:rPr>
              <a:t>Query latency, p50 ms (seed 42, N=5000, D=256)</a:t>
            </a:r>
          </a:p>
        </c:rich>
      </c:tx>
      <c:layout/>
      <c:overlay val="0"/>
    </c:title>
    <c:autoTitleDeleted val="0"/>
    <c:plotArea>
      <c:layout/>
      <c:barChart>
        <c:barDir val="col"/>
        <c:grouping val="clustered"/>
        <c:varyColors val="0"/>
        <c:ser>
          <c:idx val="0"/>
          <c:order val="0"/>
          <c:tx>
            <c:strRef>
              <c:f>Sheet1!$B$1</c:f>
              <c:strCache>
                <c:ptCount val="1"/>
                <c:pt idx="0">
                  <c:v>p50 latency (ms)</c:v>
                </c:pt>
              </c:strCache>
            </c:strRef>
          </c:tx>
          <c:spPr>
            <a:solidFill>
              <a:srgbClr val="CDC5EE"/>
            </a:solidFill>
            <a:effectLst/>
          </c:spPr>
          <c:invertIfNegative val="0"/>
          <c:dLbls>
            <c:numFmt formatCode="0.00" sourceLinked="0"/>
            <c:txPr>
              <a:bodyPr/>
              <a:lstStyle/>
              <a:p>
                <a:pPr>
                  <a:defRPr b="0" i="0" strike="noStrike" sz="1100" u="none">
                    <a:solidFill>
                      <a:srgbClr val="2A2440"/>
                    </a:solidFill>
                    <a:latin typeface="Courier New"/>
                  </a:defRPr>
                </a:pPr>
              </a:p>
            </c:txPr>
            <c:showLegendKey val="0"/>
            <c:showVal val="1"/>
            <c:showCatName val="0"/>
            <c:showSerName val="0"/>
            <c:showPercent val="0"/>
            <c:showBubbleSize val="0"/>
            <c:showLeaderLines val="0"/>
          </c:dLbls>
          <c:dPt>
            <c:idx val="0"/>
            <c:invertIfNegative val="0"/>
            <c:bubble3D val="0"/>
            <c:spPr>
              <a:solidFill>
                <a:srgbClr val="CDC5EE"/>
              </a:solidFill>
              <a:effectLst/>
            </c:spPr>
          </c:dPt>
          <c:dPt>
            <c:idx val="1"/>
            <c:invertIfNegative val="0"/>
            <c:bubble3D val="0"/>
            <c:spPr>
              <a:solidFill>
                <a:srgbClr val="9A8CE0"/>
              </a:solidFill>
              <a:effectLst/>
            </c:spPr>
          </c:dPt>
          <c:dPt>
            <c:idx val="2"/>
            <c:invertIfNegative val="0"/>
            <c:bubble3D val="0"/>
            <c:spPr>
              <a:solidFill>
                <a:srgbClr val="5B4BC4"/>
              </a:solidFill>
              <a:effectLst/>
            </c:spPr>
          </c:dPt>
          <c:cat>
            <c:multiLvlStrRef>
              <c:f>Sheet1!$A$2:$A$4</c:f>
              <c:multiLvlStrCache>
                <c:ptCount val="3"/>
                <c:lvl>
                  <c:pt idx="0">
                    <c:v>fp32 exact</c:v>
                  </c:pt>
                  <c:pt idx="1">
                    <c:v>int8 quantized</c:v>
                  </c:pt>
                  <c:pt idx="2">
                    <c:v>RuVector HNSW</c:v>
                  </c:pt>
                </c:lvl>
              </c:multiLvlStrCache>
            </c:multiLvlStrRef>
          </c:cat>
          <c:val>
            <c:numRef>
              <c:f>Sheet1!$B$2:$B$4</c:f>
              <c:numCache>
                <c:formatCode>General</c:formatCode>
                <c:ptCount val="3"/>
                <c:pt idx="0">
                  <c:v>3.66</c:v>
                </c:pt>
                <c:pt idx="1">
                  <c:v>3.38</c:v>
                </c:pt>
                <c:pt idx="2">
                  <c:v>1.076</c:v>
                </c:pt>
              </c:numCache>
            </c:numRef>
          </c:val>
        </c:ser>
        <c:dLbls>
          <c:numFmt formatCode="0.00" sourceLinked="0"/>
          <c:txPr>
            <a:bodyPr/>
            <a:lstStyle/>
            <a:p>
              <a:pPr>
                <a:defRPr b="0" i="0" strike="noStrike" sz="1100" u="none">
                  <a:solidFill>
                    <a:srgbClr val="2A2440"/>
                  </a:solidFill>
                  <a:latin typeface="Courier New"/>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A2440"/>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DE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A64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pre-work transparency using the tool itself: the ledger timestamps show what predates the session and what was built inside it. Write the receipt head hash on the whiteboard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early: the subject is the framework assessment loop. The published table is the worked example, and the use case behind it is one of several, never the target. The deliverable documented this gap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only three live outcomes in the demo: CONTINUE, PAUSE, STOP. Keep the state machine simple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SLOT: after the hour-1 rerun, update the three bar values and the recall numbers with the live run. State the runtime caveat unprompted.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SLOT: rerun bench and evaluate live in hour 1 so these carry in-session timestamps. Commands: node src/baseline.js fixtures/claims-upstream.json, then evaluate the same fixture, then claims-place-gr and -se, then the tamper beat. Rehearse to 20 seconds per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"is this not just MLflow or model cards": lineage says where from, alerts say a rule fired, cards describe. None bind a verdict that survives after the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plainly. Scoring ourselves REVIEW where we are REVIEW is the credibility of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ADOPTION.md over here, printed or linked. Say the October 20 sentence in person. Never ask for an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1E38"/>
        </a:solidFill>
      </p:bgPr>
    </p:bg>
    <p:spTree>
      <p:nvGrpSpPr>
        <p:cNvPr id="1" name=""/>
        <p:cNvGrpSpPr/>
        <p:nvPr/>
      </p:nvGrpSpPr>
      <p:grpSpPr>
        <a:xfrm>
          <a:off x="0" y="0"/>
          <a:ext cx="0" cy="0"/>
          <a:chOff x="0" y="0"/>
          <a:chExt cx="0" cy="0"/>
        </a:xfrm>
      </p:grpSpPr>
      <p:sp>
        <p:nvSpPr>
          <p:cNvPr id="2" name="Text 0"/>
          <p:cNvSpPr txBox="1"/>
          <p:nvPr/>
        </p:nvSpPr>
        <p:spPr>
          <a:xfrm>
            <a:off x="822960" y="1828800"/>
            <a:ext cx="10515600" cy="91440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A claim is not evidence</a:t>
            </a:r>
            <a:endParaRPr lang="en-US" sz="4400" dirty="0"/>
          </a:p>
        </p:txBody>
      </p:sp>
      <p:sp>
        <p:nvSpPr>
          <p:cNvPr id="3" name="Text 1"/>
          <p:cNvSpPr txBox="1"/>
          <p:nvPr/>
        </p:nvSpPr>
        <p:spPr>
          <a:xfrm>
            <a:off x="822960" y="2697480"/>
            <a:ext cx="10515600" cy="548640"/>
          </a:xfrm>
          <a:prstGeom prst="rect">
            <a:avLst/>
          </a:prstGeom>
          <a:noFill/>
          <a:ln/>
        </p:spPr>
        <p:txBody>
          <a:bodyPr wrap="square" lIns="0" tIns="0" rIns="0" bIns="0" rtlCol="0" anchor="ctr"/>
          <a:lstStyle/>
          <a:p>
            <a:pPr indent="0" marL="0">
              <a:buNone/>
            </a:pPr>
            <a:r>
              <a:rPr lang="en-US" sz="2400" i="1" dirty="0">
                <a:solidFill>
                  <a:srgbClr val="CDC5EE"/>
                </a:solidFill>
                <a:latin typeface="Calibri" pitchFamily="34" charset="0"/>
                <a:ea typeface="Calibri" pitchFamily="34" charset="-122"/>
                <a:cs typeface="Calibri" pitchFamily="34" charset="-120"/>
              </a:rPr>
              <a:t>until it carries a receipt.</a:t>
            </a:r>
            <a:endParaRPr lang="en-US" sz="2400" dirty="0"/>
          </a:p>
        </p:txBody>
      </p:sp>
      <p:sp>
        <p:nvSpPr>
          <p:cNvPr id="4" name="Text 2"/>
          <p:cNvSpPr txBox="1"/>
          <p:nvPr/>
        </p:nvSpPr>
        <p:spPr>
          <a:xfrm>
            <a:off x="822960" y="3977640"/>
            <a:ext cx="10515600" cy="411480"/>
          </a:xfrm>
          <a:prstGeom prst="rect">
            <a:avLst/>
          </a:prstGeom>
          <a:noFill/>
          <a:ln/>
        </p:spPr>
        <p:txBody>
          <a:bodyPr wrap="square" lIns="0" tIns="0" rIns="0" bIns="0" rtlCol="0" anchor="ctr"/>
          <a:lstStyle/>
          <a:p>
            <a:pPr indent="0" marL="0">
              <a:buNone/>
            </a:pPr>
            <a:r>
              <a:rPr lang="en-US" sz="1600" dirty="0">
                <a:solidFill>
                  <a:srgbClr val="CDC5EE"/>
                </a:solidFill>
                <a:latin typeface="Courier New" pitchFamily="34" charset="0"/>
                <a:ea typeface="Courier New" pitchFamily="34" charset="-122"/>
                <a:cs typeface="Courier New" pitchFamily="34" charset="-120"/>
              </a:rPr>
              <a:t>MANOLO-Bench + TRACE receipts</a:t>
            </a:r>
            <a:endParaRPr lang="en-US" sz="1600" dirty="0"/>
          </a:p>
        </p:txBody>
      </p:sp>
      <p:sp>
        <p:nvSpPr>
          <p:cNvPr id="5" name="Text 3"/>
          <p:cNvSpPr txBox="1"/>
          <p:nvPr/>
        </p:nvSpPr>
        <p:spPr>
          <a:xfrm>
            <a:off x="822960" y="4434840"/>
            <a:ext cx="10515600" cy="320040"/>
          </a:xfrm>
          <a:prstGeom prst="rect">
            <a:avLst/>
          </a:prstGeom>
          <a:noFill/>
          <a:ln/>
        </p:spPr>
        <p:txBody>
          <a:bodyPr wrap="square" lIns="0" tIns="0" rIns="0" bIns="0" rtlCol="0" anchor="ctr"/>
          <a:lstStyle/>
          <a:p>
            <a:pPr indent="0" marL="0">
              <a:buNone/>
            </a:pPr>
            <a:r>
              <a:rPr lang="en-US" sz="1200" dirty="0">
                <a:solidFill>
                  <a:srgbClr val="9B93B8"/>
                </a:solidFill>
                <a:latin typeface="Calibri" pitchFamily="34" charset="0"/>
                <a:ea typeface="Calibri" pitchFamily="34" charset="-122"/>
                <a:cs typeface="Calibri" pitchFamily="34" charset="-120"/>
              </a:rPr>
              <a:t>Innovation Lab · Thessaloniki · August 2026 · Apache-2.0</a:t>
            </a:r>
            <a:endParaRPr lang="en-US" sz="1200" dirty="0"/>
          </a:p>
        </p:txBody>
      </p:sp>
      <p:sp>
        <p:nvSpPr>
          <p:cNvPr id="6" name="Text 4"/>
          <p:cNvSpPr txBox="1"/>
          <p:nvPr/>
        </p:nvSpPr>
        <p:spPr>
          <a:xfrm>
            <a:off x="822960" y="5212080"/>
            <a:ext cx="1143000" cy="310896"/>
          </a:xfrm>
          <a:prstGeom prst="roundRect">
            <a:avLst>
              <a:gd name="adj" fmla="val 50000"/>
            </a:avLst>
          </a:prstGeom>
          <a:solidFill>
            <a:srgbClr val="DFF0E8"/>
          </a:solidFill>
          <a:ln/>
        </p:spPr>
        <p:txBody>
          <a:bodyPr wrap="square" lIns="0" tIns="0" rIns="0" bIns="0" rtlCol="0" anchor="ctr"/>
          <a:lstStyle/>
          <a:p>
            <a:pPr algn="ctr" indent="0" marL="0">
              <a:buNone/>
            </a:pPr>
            <a:r>
              <a:rPr lang="en-US" sz="1050" b="1" dirty="0">
                <a:solidFill>
                  <a:srgbClr val="1E7F5C"/>
                </a:solidFill>
                <a:latin typeface="Courier New" pitchFamily="34" charset="0"/>
                <a:ea typeface="Courier New" pitchFamily="34" charset="-122"/>
                <a:cs typeface="Courier New" pitchFamily="34" charset="-120"/>
              </a:rPr>
              <a:t>PASS</a:t>
            </a:r>
            <a:endParaRPr lang="en-US" sz="1050" dirty="0"/>
          </a:p>
        </p:txBody>
      </p:sp>
      <p:sp>
        <p:nvSpPr>
          <p:cNvPr id="7" name="Text 5"/>
          <p:cNvSpPr txBox="1"/>
          <p:nvPr/>
        </p:nvSpPr>
        <p:spPr>
          <a:xfrm>
            <a:off x="2103120" y="5212080"/>
            <a:ext cx="1143000" cy="310896"/>
          </a:xfrm>
          <a:prstGeom prst="roundRect">
            <a:avLst>
              <a:gd name="adj" fmla="val 50000"/>
            </a:avLst>
          </a:prstGeom>
          <a:solidFill>
            <a:srgbClr val="F5EBD3"/>
          </a:solidFill>
          <a:ln/>
        </p:spPr>
        <p:txBody>
          <a:bodyPr wrap="square" lIns="0" tIns="0" rIns="0" bIns="0" rtlCol="0" anchor="ctr"/>
          <a:lstStyle/>
          <a:p>
            <a:pPr algn="ctr" indent="0" marL="0">
              <a:buNone/>
            </a:pPr>
            <a:r>
              <a:rPr lang="en-US" sz="1050" b="1" dirty="0">
                <a:solidFill>
                  <a:srgbClr val="8A6A15"/>
                </a:solidFill>
                <a:latin typeface="Courier New" pitchFamily="34" charset="0"/>
                <a:ea typeface="Courier New" pitchFamily="34" charset="-122"/>
                <a:cs typeface="Courier New" pitchFamily="34" charset="-120"/>
              </a:rPr>
              <a:t>REVIEW</a:t>
            </a:r>
            <a:endParaRPr lang="en-US" sz="1050" dirty="0"/>
          </a:p>
        </p:txBody>
      </p:sp>
      <p:sp>
        <p:nvSpPr>
          <p:cNvPr id="8" name="Text 6"/>
          <p:cNvSpPr txBox="1"/>
          <p:nvPr/>
        </p:nvSpPr>
        <p:spPr>
          <a:xfrm>
            <a:off x="3383280" y="5212080"/>
            <a:ext cx="1143000" cy="310896"/>
          </a:xfrm>
          <a:prstGeom prst="roundRect">
            <a:avLst>
              <a:gd name="adj" fmla="val 50000"/>
            </a:avLst>
          </a:prstGeom>
          <a:solidFill>
            <a:srgbClr val="F6E2E2"/>
          </a:solidFill>
          <a:ln/>
        </p:spPr>
        <p:txBody>
          <a:bodyPr wrap="square" lIns="0" tIns="0" rIns="0" bIns="0" rtlCol="0" anchor="ctr"/>
          <a:lstStyle/>
          <a:p>
            <a:pPr algn="ctr" indent="0" marL="0">
              <a:buNone/>
            </a:pPr>
            <a:r>
              <a:rPr lang="en-US" sz="1050" b="1" dirty="0">
                <a:solidFill>
                  <a:srgbClr val="B03030"/>
                </a:solidFill>
                <a:latin typeface="Courier New" pitchFamily="34" charset="0"/>
                <a:ea typeface="Courier New" pitchFamily="34" charset="-122"/>
                <a:cs typeface="Courier New" pitchFamily="34" charset="-120"/>
              </a:rPr>
              <a:t>BLOCK</a:t>
            </a:r>
            <a:endParaRPr lang="en-US" sz="1050" dirty="0"/>
          </a:p>
        </p:txBody>
      </p:sp>
      <p:sp>
        <p:nvSpPr>
          <p:cNvPr id="9" name="Text 7"/>
          <p:cNvSpPr txBox="1"/>
          <p:nvPr/>
        </p:nvSpPr>
        <p:spPr>
          <a:xfrm>
            <a:off x="4663440" y="5212080"/>
            <a:ext cx="1143000" cy="310896"/>
          </a:xfrm>
          <a:prstGeom prst="roundRect">
            <a:avLst>
              <a:gd name="adj" fmla="val 50000"/>
            </a:avLst>
          </a:prstGeom>
          <a:solidFill>
            <a:srgbClr val="E4DFF6"/>
          </a:solidFill>
          <a:ln/>
        </p:spPr>
        <p:txBody>
          <a:bodyPr wrap="square" lIns="0" tIns="0" rIns="0" bIns="0" rtlCol="0" anchor="ctr"/>
          <a:lstStyle/>
          <a:p>
            <a:pPr algn="ctr" indent="0" marL="0">
              <a:buNone/>
            </a:pPr>
            <a:r>
              <a:rPr lang="en-US" sz="1050" b="1" dirty="0">
                <a:solidFill>
                  <a:srgbClr val="5B4BC4"/>
                </a:solidFill>
                <a:latin typeface="Courier New" pitchFamily="34" charset="0"/>
                <a:ea typeface="Courier New" pitchFamily="34" charset="-122"/>
                <a:cs typeface="Courier New" pitchFamily="34" charset="-120"/>
              </a:rPr>
              <a:t>SIGNED</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B"/>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85800"/>
          </a:xfrm>
          <a:prstGeom prst="rect">
            <a:avLst/>
          </a:prstGeom>
          <a:noFill/>
          <a:ln/>
        </p:spPr>
        <p:txBody>
          <a:bodyPr wrap="square" lIns="0" tIns="0" rIns="0" bIns="0" rtlCol="0" anchor="ctr"/>
          <a:lstStyle/>
          <a:p>
            <a:pPr indent="0" marL="0">
              <a:buNone/>
            </a:pPr>
            <a:r>
              <a:rPr lang="en-US" sz="3200" b="1" dirty="0">
                <a:solidFill>
                  <a:srgbClr val="2A2440"/>
                </a:solidFill>
                <a:latin typeface="Calibri" pitchFamily="34" charset="0"/>
                <a:ea typeface="Calibri" pitchFamily="34" charset="-122"/>
                <a:cs typeface="Calibri" pitchFamily="34" charset="-120"/>
              </a:rPr>
              <a:t>8 cite no direct evidence, 6 require validation, 1 cites evidence</a:t>
            </a:r>
            <a:endParaRPr lang="en-US" sz="3200" dirty="0"/>
          </a:p>
        </p:txBody>
      </p:sp>
      <p:sp>
        <p:nvSpPr>
          <p:cNvPr id="3" name="Text 1"/>
          <p:cNvSpPr txBox="1"/>
          <p:nvPr/>
        </p:nvSpPr>
        <p:spPr>
          <a:xfrm>
            <a:off x="548640" y="1417320"/>
            <a:ext cx="3657600" cy="1325880"/>
          </a:xfrm>
          <a:prstGeom prst="rect">
            <a:avLst/>
          </a:prstGeom>
          <a:noFill/>
          <a:ln/>
        </p:spPr>
        <p:txBody>
          <a:bodyPr wrap="square" lIns="0" tIns="0" rIns="0" bIns="0" rtlCol="0" anchor="ctr"/>
          <a:lstStyle/>
          <a:p>
            <a:pPr indent="0" marL="0">
              <a:buNone/>
            </a:pPr>
            <a:r>
              <a:rPr lang="en-US" sz="8400" b="1" dirty="0">
                <a:solidFill>
                  <a:srgbClr val="5B4BC4"/>
                </a:solidFill>
                <a:latin typeface="Calibri" pitchFamily="34" charset="0"/>
                <a:ea typeface="Calibri" pitchFamily="34" charset="-122"/>
                <a:cs typeface="Calibri" pitchFamily="34" charset="-120"/>
              </a:rPr>
              <a:t>8 · 6 · 1</a:t>
            </a:r>
            <a:endParaRPr lang="en-US" sz="8400" dirty="0"/>
          </a:p>
        </p:txBody>
      </p:sp>
      <p:sp>
        <p:nvSpPr>
          <p:cNvPr id="4" name="Text 2"/>
          <p:cNvSpPr txBox="1"/>
          <p:nvPr/>
        </p:nvSpPr>
        <p:spPr>
          <a:xfrm>
            <a:off x="548640" y="2880360"/>
            <a:ext cx="3566160" cy="1280160"/>
          </a:xfrm>
          <a:prstGeom prst="rect">
            <a:avLst/>
          </a:prstGeom>
          <a:noFill/>
          <a:ln/>
        </p:spPr>
        <p:txBody>
          <a:bodyPr wrap="square" lIns="0" tIns="0" rIns="0" bIns="0" rtlCol="0" anchor="ctr"/>
          <a:lstStyle/>
          <a:p>
            <a:pPr indent="0" marL="0">
              <a:buNone/>
            </a:pPr>
            <a:r>
              <a:rPr lang="en-US" sz="1400" dirty="0">
                <a:solidFill>
                  <a:srgbClr val="2A2440"/>
                </a:solidFill>
                <a:latin typeface="Calibri" pitchFamily="34" charset="0"/>
                <a:ea typeface="Calibri" pitchFamily="34" charset="-122"/>
                <a:cs typeface="Calibri" pitchFamily="34" charset="-120"/>
              </a:rPr>
              <a:t>claims in the framework's published assessment table carry no direct evidence, in the assessment itself.</a:t>
            </a:r>
            <a:endParaRPr lang="en-US" sz="1400" dirty="0"/>
          </a:p>
        </p:txBody>
      </p:sp>
      <p:sp>
        <p:nvSpPr>
          <p:cNvPr id="5" name="Text 3"/>
          <p:cNvSpPr txBox="1"/>
          <p:nvPr/>
        </p:nvSpPr>
        <p:spPr>
          <a:xfrm>
            <a:off x="548640" y="4297680"/>
            <a:ext cx="3566160" cy="548640"/>
          </a:xfrm>
          <a:prstGeom prst="rect">
            <a:avLst/>
          </a:prstGeom>
          <a:noFill/>
          <a:ln/>
        </p:spPr>
        <p:txBody>
          <a:bodyPr wrap="square" lIns="0" tIns="0" rIns="0" bIns="0" rtlCol="0" anchor="ctr"/>
          <a:lstStyle/>
          <a:p>
            <a:pPr indent="0" marL="0">
              <a:buNone/>
            </a:pPr>
            <a:r>
              <a:rPr lang="en-US" sz="1050" dirty="0">
                <a:solidFill>
                  <a:srgbClr val="6A6480"/>
                </a:solidFill>
                <a:latin typeface="Courier New" pitchFamily="34" charset="0"/>
                <a:ea typeface="Courier New" pitchFamily="34" charset="-122"/>
                <a:cs typeface="Courier New" pitchFamily="34" charset="-120"/>
              </a:rPr>
              <a:t>MANOLO D5.1 · section 7.2.5 · Table 7 · pages 47 to 49</a:t>
            </a:r>
            <a:endParaRPr lang="en-US" sz="1050" dirty="0"/>
          </a:p>
        </p:txBody>
      </p:sp>
      <p:sp>
        <p:nvSpPr>
          <p:cNvPr id="6" name="Shape 4"/>
          <p:cNvSpPr/>
          <p:nvPr/>
        </p:nvSpPr>
        <p:spPr>
          <a:xfrm>
            <a:off x="4526280" y="1417320"/>
            <a:ext cx="7114032" cy="1051560"/>
          </a:xfrm>
          <a:prstGeom prst="roundRect">
            <a:avLst>
              <a:gd name="adj" fmla="val 7826"/>
            </a:avLst>
          </a:prstGeom>
          <a:solidFill>
            <a:srgbClr val="FFFFFF"/>
          </a:solidFill>
          <a:ln w="9525">
            <a:solidFill>
              <a:srgbClr val="E3DEF2"/>
            </a:solidFill>
            <a:prstDash val="solid"/>
          </a:ln>
          <a:effectLst>
            <a:outerShdw sx="100000" sy="100000" kx="0" ky="0" algn="bl" rotWithShape="0" blurRad="76200" dist="25400" dir="5400000">
              <a:srgbClr val="2A2440">
                <a:alpha val="10000"/>
              </a:srgbClr>
            </a:outerShdw>
          </a:effectLst>
        </p:spPr>
      </p:sp>
      <p:sp>
        <p:nvSpPr>
          <p:cNvPr id="7" name="Text 5"/>
          <p:cNvSpPr txBox="1"/>
          <p:nvPr/>
        </p:nvSpPr>
        <p:spPr>
          <a:xfrm>
            <a:off x="4754880" y="1563624"/>
            <a:ext cx="1371600" cy="365760"/>
          </a:xfrm>
          <a:prstGeom prst="rect">
            <a:avLst/>
          </a:prstGeom>
          <a:noFill/>
          <a:ln/>
        </p:spPr>
        <p:txBody>
          <a:bodyPr wrap="square" lIns="0" tIns="0" rIns="0" bIns="0" rtlCol="0" anchor="ctr"/>
          <a:lstStyle/>
          <a:p>
            <a:pPr indent="0" marL="0">
              <a:buNone/>
            </a:pPr>
            <a:r>
              <a:rPr lang="en-US" sz="1300" b="1" dirty="0">
                <a:solidFill>
                  <a:srgbClr val="2A2440"/>
                </a:solidFill>
                <a:latin typeface="Courier New" pitchFamily="34" charset="0"/>
                <a:ea typeface="Courier New" pitchFamily="34" charset="-122"/>
                <a:cs typeface="Courier New" pitchFamily="34" charset="-120"/>
              </a:rPr>
              <a:t>CLAIM-4</a:t>
            </a:r>
            <a:endParaRPr lang="en-US" sz="1300" dirty="0"/>
          </a:p>
        </p:txBody>
      </p:sp>
      <p:sp>
        <p:nvSpPr>
          <p:cNvPr id="8" name="Text 6"/>
          <p:cNvSpPr txBox="1"/>
          <p:nvPr/>
        </p:nvSpPr>
        <p:spPr>
          <a:xfrm>
            <a:off x="4754880" y="1920240"/>
            <a:ext cx="4754880" cy="457200"/>
          </a:xfrm>
          <a:prstGeom prst="rect">
            <a:avLst/>
          </a:prstGeom>
          <a:noFill/>
          <a:ln/>
        </p:spPr>
        <p:txBody>
          <a:bodyPr wrap="square" lIns="0" tIns="0" rIns="0" bIns="0" rtlCol="0" anchor="ctr"/>
          <a:lstStyle/>
          <a:p>
            <a:pPr indent="0" marL="0">
              <a:buNone/>
            </a:pPr>
            <a:r>
              <a:rPr lang="en-US" sz="1150" dirty="0">
                <a:solidFill>
                  <a:srgbClr val="6A6480"/>
                </a:solidFill>
                <a:latin typeface="Calibri" pitchFamily="34" charset="0"/>
                <a:ea typeface="Calibri" pitchFamily="34" charset="-122"/>
                <a:cs typeface="Calibri" pitchFamily="34" charset="-120"/>
              </a:rPr>
              <a:t>The system maintains sub-100 ms real-time latency</a:t>
            </a:r>
            <a:endParaRPr lang="en-US" sz="1150" dirty="0"/>
          </a:p>
        </p:txBody>
      </p:sp>
      <p:sp>
        <p:nvSpPr>
          <p:cNvPr id="9" name="Text 7"/>
          <p:cNvSpPr txBox="1"/>
          <p:nvPr/>
        </p:nvSpPr>
        <p:spPr>
          <a:xfrm>
            <a:off x="9829800" y="1783080"/>
            <a:ext cx="1600200" cy="310896"/>
          </a:xfrm>
          <a:prstGeom prst="roundRect">
            <a:avLst>
              <a:gd name="adj" fmla="val 50000"/>
            </a:avLst>
          </a:prstGeom>
          <a:solidFill>
            <a:srgbClr val="F5EBD3"/>
          </a:solidFill>
          <a:ln/>
        </p:spPr>
        <p:txBody>
          <a:bodyPr wrap="square" lIns="0" tIns="0" rIns="0" bIns="0" rtlCol="0" anchor="ctr"/>
          <a:lstStyle/>
          <a:p>
            <a:pPr algn="ctr" indent="0" marL="0">
              <a:buNone/>
            </a:pPr>
            <a:r>
              <a:rPr lang="en-US" sz="1050" b="1" dirty="0">
                <a:solidFill>
                  <a:srgbClr val="8A6A15"/>
                </a:solidFill>
                <a:latin typeface="Courier New" pitchFamily="34" charset="0"/>
                <a:ea typeface="Courier New" pitchFamily="34" charset="-122"/>
                <a:cs typeface="Courier New" pitchFamily="34" charset="-120"/>
              </a:rPr>
              <a:t>no direct evidence</a:t>
            </a:r>
            <a:endParaRPr lang="en-US" sz="1050" dirty="0"/>
          </a:p>
        </p:txBody>
      </p:sp>
      <p:sp>
        <p:nvSpPr>
          <p:cNvPr id="10" name="Shape 8"/>
          <p:cNvSpPr/>
          <p:nvPr/>
        </p:nvSpPr>
        <p:spPr>
          <a:xfrm>
            <a:off x="4526280" y="2651760"/>
            <a:ext cx="7114032" cy="1051560"/>
          </a:xfrm>
          <a:prstGeom prst="roundRect">
            <a:avLst>
              <a:gd name="adj" fmla="val 7826"/>
            </a:avLst>
          </a:prstGeom>
          <a:solidFill>
            <a:srgbClr val="FFFFFF"/>
          </a:solidFill>
          <a:ln w="9525">
            <a:solidFill>
              <a:srgbClr val="E3DEF2"/>
            </a:solidFill>
            <a:prstDash val="solid"/>
          </a:ln>
          <a:effectLst>
            <a:outerShdw sx="100000" sy="100000" kx="0" ky="0" algn="bl" rotWithShape="0" blurRad="76200" dist="25400" dir="5400000">
              <a:srgbClr val="2A2440">
                <a:alpha val="10000"/>
              </a:srgbClr>
            </a:outerShdw>
          </a:effectLst>
        </p:spPr>
      </p:sp>
      <p:sp>
        <p:nvSpPr>
          <p:cNvPr id="11" name="Text 9"/>
          <p:cNvSpPr txBox="1"/>
          <p:nvPr/>
        </p:nvSpPr>
        <p:spPr>
          <a:xfrm>
            <a:off x="4754880" y="2798064"/>
            <a:ext cx="1371600" cy="365760"/>
          </a:xfrm>
          <a:prstGeom prst="rect">
            <a:avLst/>
          </a:prstGeom>
          <a:noFill/>
          <a:ln/>
        </p:spPr>
        <p:txBody>
          <a:bodyPr wrap="square" lIns="0" tIns="0" rIns="0" bIns="0" rtlCol="0" anchor="ctr"/>
          <a:lstStyle/>
          <a:p>
            <a:pPr indent="0" marL="0">
              <a:buNone/>
            </a:pPr>
            <a:r>
              <a:rPr lang="en-US" sz="1300" b="1" dirty="0">
                <a:solidFill>
                  <a:srgbClr val="2A2440"/>
                </a:solidFill>
                <a:latin typeface="Courier New" pitchFamily="34" charset="0"/>
                <a:ea typeface="Courier New" pitchFamily="34" charset="-122"/>
                <a:cs typeface="Courier New" pitchFamily="34" charset="-120"/>
              </a:rPr>
              <a:t>CLAIM-7</a:t>
            </a:r>
            <a:endParaRPr lang="en-US" sz="1300" dirty="0"/>
          </a:p>
        </p:txBody>
      </p:sp>
      <p:sp>
        <p:nvSpPr>
          <p:cNvPr id="12" name="Text 10"/>
          <p:cNvSpPr txBox="1"/>
          <p:nvPr/>
        </p:nvSpPr>
        <p:spPr>
          <a:xfrm>
            <a:off x="4754880" y="3154680"/>
            <a:ext cx="4754880" cy="457200"/>
          </a:xfrm>
          <a:prstGeom prst="rect">
            <a:avLst/>
          </a:prstGeom>
          <a:noFill/>
          <a:ln/>
        </p:spPr>
        <p:txBody>
          <a:bodyPr wrap="square" lIns="0" tIns="0" rIns="0" bIns="0" rtlCol="0" anchor="ctr"/>
          <a:lstStyle/>
          <a:p>
            <a:pPr indent="0" marL="0">
              <a:buNone/>
            </a:pPr>
            <a:r>
              <a:rPr lang="en-US" sz="1150" dirty="0">
                <a:solidFill>
                  <a:srgbClr val="6A6480"/>
                </a:solidFill>
                <a:latin typeface="Calibri" pitchFamily="34" charset="0"/>
                <a:ea typeface="Calibri" pitchFamily="34" charset="-122"/>
                <a:cs typeface="Calibri" pitchFamily="34" charset="-120"/>
              </a:rPr>
              <a:t>Model compression maintains accuracy while cutting compute</a:t>
            </a:r>
            <a:endParaRPr lang="en-US" sz="1150" dirty="0"/>
          </a:p>
        </p:txBody>
      </p:sp>
      <p:sp>
        <p:nvSpPr>
          <p:cNvPr id="13" name="Text 11"/>
          <p:cNvSpPr txBox="1"/>
          <p:nvPr/>
        </p:nvSpPr>
        <p:spPr>
          <a:xfrm>
            <a:off x="9829800" y="3017520"/>
            <a:ext cx="1600200" cy="310896"/>
          </a:xfrm>
          <a:prstGeom prst="roundRect">
            <a:avLst>
              <a:gd name="adj" fmla="val 50000"/>
            </a:avLst>
          </a:prstGeom>
          <a:solidFill>
            <a:srgbClr val="F5EBD3"/>
          </a:solidFill>
          <a:ln/>
        </p:spPr>
        <p:txBody>
          <a:bodyPr wrap="square" lIns="0" tIns="0" rIns="0" bIns="0" rtlCol="0" anchor="ctr"/>
          <a:lstStyle/>
          <a:p>
            <a:pPr algn="ctr" indent="0" marL="0">
              <a:buNone/>
            </a:pPr>
            <a:r>
              <a:rPr lang="en-US" sz="1050" b="1" dirty="0">
                <a:solidFill>
                  <a:srgbClr val="8A6A15"/>
                </a:solidFill>
                <a:latin typeface="Courier New" pitchFamily="34" charset="0"/>
                <a:ea typeface="Courier New" pitchFamily="34" charset="-122"/>
                <a:cs typeface="Courier New" pitchFamily="34" charset="-120"/>
              </a:rPr>
              <a:t>no direct evidence</a:t>
            </a:r>
            <a:endParaRPr lang="en-US" sz="1050" dirty="0"/>
          </a:p>
        </p:txBody>
      </p:sp>
      <p:sp>
        <p:nvSpPr>
          <p:cNvPr id="14" name="Shape 12"/>
          <p:cNvSpPr/>
          <p:nvPr/>
        </p:nvSpPr>
        <p:spPr>
          <a:xfrm>
            <a:off x="4526280" y="3886200"/>
            <a:ext cx="7114032" cy="1051560"/>
          </a:xfrm>
          <a:prstGeom prst="roundRect">
            <a:avLst>
              <a:gd name="adj" fmla="val 7826"/>
            </a:avLst>
          </a:prstGeom>
          <a:solidFill>
            <a:srgbClr val="FFFFFF"/>
          </a:solidFill>
          <a:ln w="9525">
            <a:solidFill>
              <a:srgbClr val="E3DEF2"/>
            </a:solidFill>
            <a:prstDash val="solid"/>
          </a:ln>
          <a:effectLst>
            <a:outerShdw sx="100000" sy="100000" kx="0" ky="0" algn="bl" rotWithShape="0" blurRad="76200" dist="25400" dir="5400000">
              <a:srgbClr val="2A2440">
                <a:alpha val="10000"/>
              </a:srgbClr>
            </a:outerShdw>
          </a:effectLst>
        </p:spPr>
      </p:sp>
      <p:sp>
        <p:nvSpPr>
          <p:cNvPr id="15" name="Text 13"/>
          <p:cNvSpPr txBox="1"/>
          <p:nvPr/>
        </p:nvSpPr>
        <p:spPr>
          <a:xfrm>
            <a:off x="4754880" y="4032504"/>
            <a:ext cx="1371600" cy="365760"/>
          </a:xfrm>
          <a:prstGeom prst="rect">
            <a:avLst/>
          </a:prstGeom>
          <a:noFill/>
          <a:ln/>
        </p:spPr>
        <p:txBody>
          <a:bodyPr wrap="square" lIns="0" tIns="0" rIns="0" bIns="0" rtlCol="0" anchor="ctr"/>
          <a:lstStyle/>
          <a:p>
            <a:pPr indent="0" marL="0">
              <a:buNone/>
            </a:pPr>
            <a:r>
              <a:rPr lang="en-US" sz="1300" b="1" dirty="0">
                <a:solidFill>
                  <a:srgbClr val="2A2440"/>
                </a:solidFill>
                <a:latin typeface="Courier New" pitchFamily="34" charset="0"/>
                <a:ea typeface="Courier New" pitchFamily="34" charset="-122"/>
                <a:cs typeface="Courier New" pitchFamily="34" charset="-120"/>
              </a:rPr>
              <a:t>CLAIM-2</a:t>
            </a:r>
            <a:endParaRPr lang="en-US" sz="1300" dirty="0"/>
          </a:p>
        </p:txBody>
      </p:sp>
      <p:sp>
        <p:nvSpPr>
          <p:cNvPr id="16" name="Text 14"/>
          <p:cNvSpPr txBox="1"/>
          <p:nvPr/>
        </p:nvSpPr>
        <p:spPr>
          <a:xfrm>
            <a:off x="4754880" y="4389120"/>
            <a:ext cx="4754880" cy="457200"/>
          </a:xfrm>
          <a:prstGeom prst="rect">
            <a:avLst/>
          </a:prstGeom>
          <a:noFill/>
          <a:ln/>
        </p:spPr>
        <p:txBody>
          <a:bodyPr wrap="square" lIns="0" tIns="0" rIns="0" bIns="0" rtlCol="0" anchor="ctr"/>
          <a:lstStyle/>
          <a:p>
            <a:pPr indent="0" marL="0">
              <a:buNone/>
            </a:pPr>
            <a:r>
              <a:rPr lang="en-US" sz="1150" dirty="0">
                <a:solidFill>
                  <a:srgbClr val="6A6480"/>
                </a:solidFill>
                <a:latin typeface="Calibri" pitchFamily="34" charset="0"/>
                <a:ea typeface="Calibri" pitchFamily="34" charset="-122"/>
                <a:cs typeface="Calibri" pitchFamily="34" charset="-120"/>
              </a:rPr>
              <a:t>87.08% PSG and 86.64% wearable match, BOAS dataset</a:t>
            </a:r>
            <a:endParaRPr lang="en-US" sz="1150" dirty="0"/>
          </a:p>
        </p:txBody>
      </p:sp>
      <p:sp>
        <p:nvSpPr>
          <p:cNvPr id="17" name="Text 15"/>
          <p:cNvSpPr txBox="1"/>
          <p:nvPr/>
        </p:nvSpPr>
        <p:spPr>
          <a:xfrm>
            <a:off x="9829800" y="4251960"/>
            <a:ext cx="1600200" cy="310896"/>
          </a:xfrm>
          <a:prstGeom prst="roundRect">
            <a:avLst>
              <a:gd name="adj" fmla="val 50000"/>
            </a:avLst>
          </a:prstGeom>
          <a:solidFill>
            <a:srgbClr val="DFF0E8"/>
          </a:solidFill>
          <a:ln/>
        </p:spPr>
        <p:txBody>
          <a:bodyPr wrap="square" lIns="0" tIns="0" rIns="0" bIns="0" rtlCol="0" anchor="ctr"/>
          <a:lstStyle/>
          <a:p>
            <a:pPr algn="ctr" indent="0" marL="0">
              <a:buNone/>
            </a:pPr>
            <a:r>
              <a:rPr lang="en-US" sz="1050" b="1" dirty="0">
                <a:solidFill>
                  <a:srgbClr val="1E7F5C"/>
                </a:solidFill>
                <a:latin typeface="Courier New" pitchFamily="34" charset="0"/>
                <a:ea typeface="Courier New" pitchFamily="34" charset="-122"/>
                <a:cs typeface="Courier New" pitchFamily="34" charset="-120"/>
              </a:rPr>
              <a:t>published evidence</a:t>
            </a:r>
            <a:endParaRPr lang="en-US" sz="1050" dirty="0"/>
          </a:p>
        </p:txBody>
      </p:sp>
      <p:sp>
        <p:nvSpPr>
          <p:cNvPr id="18" name="Text 16"/>
          <p:cNvSpPr txBox="1"/>
          <p:nvPr/>
        </p:nvSpPr>
        <p:spPr>
          <a:xfrm>
            <a:off x="548640" y="5623560"/>
            <a:ext cx="11091672" cy="457200"/>
          </a:xfrm>
          <a:prstGeom prst="rect">
            <a:avLst/>
          </a:prstGeom>
          <a:noFill/>
          <a:ln/>
        </p:spPr>
        <p:txBody>
          <a:bodyPr wrap="square" lIns="0" tIns="0" rIns="0" bIns="0" rtlCol="0" anchor="ctr"/>
          <a:lstStyle/>
          <a:p>
            <a:pPr indent="0" marL="0">
              <a:buNone/>
            </a:pPr>
            <a:r>
              <a:rPr lang="en-US" sz="1500" b="1" dirty="0">
                <a:solidFill>
                  <a:srgbClr val="2A2440"/>
                </a:solidFill>
                <a:latin typeface="Calibri" pitchFamily="34" charset="0"/>
                <a:ea typeface="Calibri" pitchFamily="34" charset="-122"/>
                <a:cs typeface="Calibri" pitchFamily="34" charset="-120"/>
              </a:rPr>
              <a:t>The deliverable documented this gap itself. We built the instrument for it.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B"/>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85800"/>
          </a:xfrm>
          <a:prstGeom prst="rect">
            <a:avLst/>
          </a:prstGeom>
          <a:noFill/>
          <a:ln/>
        </p:spPr>
        <p:txBody>
          <a:bodyPr wrap="square" lIns="0" tIns="0" rIns="0" bIns="0" rtlCol="0" anchor="ctr"/>
          <a:lstStyle/>
          <a:p>
            <a:pPr indent="0" marL="0">
              <a:buNone/>
            </a:pPr>
            <a:r>
              <a:rPr lang="en-US" sz="3200" b="1" dirty="0">
                <a:solidFill>
                  <a:srgbClr val="2A2440"/>
                </a:solidFill>
                <a:latin typeface="Calibri" pitchFamily="34" charset="0"/>
                <a:ea typeface="Calibri" pitchFamily="34" charset="-122"/>
                <a:cs typeface="Calibri" pitchFamily="34" charset="-120"/>
              </a:rPr>
              <a:t>Evidence origin decides before arithmetic does</a:t>
            </a:r>
            <a:endParaRPr lang="en-US" sz="3200" dirty="0"/>
          </a:p>
        </p:txBody>
      </p:sp>
      <p:sp>
        <p:nvSpPr>
          <p:cNvPr id="3" name="Shape 1"/>
          <p:cNvSpPr/>
          <p:nvPr/>
        </p:nvSpPr>
        <p:spPr>
          <a:xfrm>
            <a:off x="548640" y="1325880"/>
            <a:ext cx="3246120" cy="1051560"/>
          </a:xfrm>
          <a:prstGeom prst="roundRect">
            <a:avLst>
              <a:gd name="adj" fmla="val 7826"/>
            </a:avLst>
          </a:prstGeom>
          <a:solidFill>
            <a:srgbClr val="FFFFFF"/>
          </a:solidFill>
          <a:ln w="9525">
            <a:solidFill>
              <a:srgbClr val="E3DEF2"/>
            </a:solidFill>
            <a:prstDash val="solid"/>
          </a:ln>
          <a:effectLst>
            <a:outerShdw sx="100000" sy="100000" kx="0" ky="0" algn="bl" rotWithShape="0" blurRad="76200" dist="25400" dir="5400000">
              <a:srgbClr val="2A2440">
                <a:alpha val="10000"/>
              </a:srgbClr>
            </a:outerShdw>
          </a:effectLst>
        </p:spPr>
      </p:sp>
      <p:sp>
        <p:nvSpPr>
          <p:cNvPr id="4" name="Text 2"/>
          <p:cNvSpPr txBox="1"/>
          <p:nvPr/>
        </p:nvSpPr>
        <p:spPr>
          <a:xfrm>
            <a:off x="777240" y="1463040"/>
            <a:ext cx="2834640" cy="365760"/>
          </a:xfrm>
          <a:prstGeom prst="rect">
            <a:avLst/>
          </a:prstGeom>
          <a:noFill/>
          <a:ln/>
        </p:spPr>
        <p:txBody>
          <a:bodyPr wrap="square" lIns="0" tIns="0" rIns="0" bIns="0" rtlCol="0" anchor="ctr"/>
          <a:lstStyle/>
          <a:p>
            <a:pPr indent="0" marL="0">
              <a:buNone/>
            </a:pPr>
            <a:r>
              <a:rPr lang="en-US" sz="1500" b="1" dirty="0">
                <a:solidFill>
                  <a:srgbClr val="5B4BC4"/>
                </a:solidFill>
                <a:latin typeface="Calibri" pitchFamily="34" charset="0"/>
                <a:ea typeface="Calibri" pitchFamily="34" charset="-122"/>
                <a:cs typeface="Calibri" pitchFamily="34" charset="-120"/>
              </a:rPr>
              <a:t>Bench measures</a:t>
            </a:r>
            <a:endParaRPr lang="en-US" sz="1500" dirty="0"/>
          </a:p>
        </p:txBody>
      </p:sp>
      <p:sp>
        <p:nvSpPr>
          <p:cNvPr id="5" name="Text 3"/>
          <p:cNvSpPr txBox="1"/>
          <p:nvPr/>
        </p:nvSpPr>
        <p:spPr>
          <a:xfrm>
            <a:off x="777240" y="1828800"/>
            <a:ext cx="2834640" cy="365760"/>
          </a:xfrm>
          <a:prstGeom prst="rect">
            <a:avLst/>
          </a:prstGeom>
          <a:noFill/>
          <a:ln/>
        </p:spPr>
        <p:txBody>
          <a:bodyPr wrap="square" lIns="0" tIns="0" rIns="0" bIns="0" rtlCol="0" anchor="ctr"/>
          <a:lstStyle/>
          <a:p>
            <a:pPr indent="0" marL="0">
              <a:buNone/>
            </a:pPr>
            <a:r>
              <a:rPr lang="en-US" sz="1150" dirty="0">
                <a:solidFill>
                  <a:srgbClr val="6A6480"/>
                </a:solidFill>
                <a:latin typeface="Calibri" pitchFamily="34" charset="0"/>
                <a:ea typeface="Calibri" pitchFamily="34" charset="-122"/>
                <a:cs typeface="Calibri" pitchFamily="34" charset="-120"/>
              </a:rPr>
              <a:t>seeded, replayable, one command</a:t>
            </a:r>
            <a:endParaRPr lang="en-US" sz="1150" dirty="0"/>
          </a:p>
        </p:txBody>
      </p:sp>
      <p:sp>
        <p:nvSpPr>
          <p:cNvPr id="6" name="Shape 4"/>
          <p:cNvSpPr/>
          <p:nvPr/>
        </p:nvSpPr>
        <p:spPr>
          <a:xfrm>
            <a:off x="3858768" y="1847088"/>
            <a:ext cx="640080" cy="0"/>
          </a:xfrm>
          <a:prstGeom prst="line">
            <a:avLst/>
          </a:prstGeom>
          <a:noFill/>
          <a:ln w="25400">
            <a:solidFill>
              <a:srgbClr val="5B4BC4"/>
            </a:solidFill>
            <a:prstDash val="solid"/>
            <a:tailEnd type="triangle"/>
          </a:ln>
        </p:spPr>
      </p:sp>
      <p:sp>
        <p:nvSpPr>
          <p:cNvPr id="7" name="Shape 5"/>
          <p:cNvSpPr/>
          <p:nvPr/>
        </p:nvSpPr>
        <p:spPr>
          <a:xfrm>
            <a:off x="4572000" y="1325880"/>
            <a:ext cx="3246120" cy="1051560"/>
          </a:xfrm>
          <a:prstGeom prst="roundRect">
            <a:avLst>
              <a:gd name="adj" fmla="val 7826"/>
            </a:avLst>
          </a:prstGeom>
          <a:solidFill>
            <a:srgbClr val="FFFFFF"/>
          </a:solidFill>
          <a:ln w="9525">
            <a:solidFill>
              <a:srgbClr val="E3DEF2"/>
            </a:solidFill>
            <a:prstDash val="solid"/>
          </a:ln>
          <a:effectLst>
            <a:outerShdw sx="100000" sy="100000" kx="0" ky="0" algn="bl" rotWithShape="0" blurRad="76200" dist="25400" dir="5400000">
              <a:srgbClr val="2A2440">
                <a:alpha val="10000"/>
              </a:srgbClr>
            </a:outerShdw>
          </a:effectLst>
        </p:spPr>
      </p:sp>
      <p:sp>
        <p:nvSpPr>
          <p:cNvPr id="8" name="Text 6"/>
          <p:cNvSpPr txBox="1"/>
          <p:nvPr/>
        </p:nvSpPr>
        <p:spPr>
          <a:xfrm>
            <a:off x="4800600" y="1463040"/>
            <a:ext cx="2834640" cy="365760"/>
          </a:xfrm>
          <a:prstGeom prst="rect">
            <a:avLst/>
          </a:prstGeom>
          <a:noFill/>
          <a:ln/>
        </p:spPr>
        <p:txBody>
          <a:bodyPr wrap="square" lIns="0" tIns="0" rIns="0" bIns="0" rtlCol="0" anchor="ctr"/>
          <a:lstStyle/>
          <a:p>
            <a:pPr indent="0" marL="0">
              <a:buNone/>
            </a:pPr>
            <a:r>
              <a:rPr lang="en-US" sz="1500" b="1" dirty="0">
                <a:solidFill>
                  <a:srgbClr val="5B4BC4"/>
                </a:solidFill>
                <a:latin typeface="Calibri" pitchFamily="34" charset="0"/>
                <a:ea typeface="Calibri" pitchFamily="34" charset="-122"/>
                <a:cs typeface="Calibri" pitchFamily="34" charset="-120"/>
              </a:rPr>
              <a:t>Gate judges</a:t>
            </a:r>
            <a:endParaRPr lang="en-US" sz="1500" dirty="0"/>
          </a:p>
        </p:txBody>
      </p:sp>
      <p:sp>
        <p:nvSpPr>
          <p:cNvPr id="9" name="Text 7"/>
          <p:cNvSpPr txBox="1"/>
          <p:nvPr/>
        </p:nvSpPr>
        <p:spPr>
          <a:xfrm>
            <a:off x="4800600" y="1828800"/>
            <a:ext cx="2834640" cy="365760"/>
          </a:xfrm>
          <a:prstGeom prst="rect">
            <a:avLst/>
          </a:prstGeom>
          <a:noFill/>
          <a:ln/>
        </p:spPr>
        <p:txBody>
          <a:bodyPr wrap="square" lIns="0" tIns="0" rIns="0" bIns="0" rtlCol="0" anchor="ctr"/>
          <a:lstStyle/>
          <a:p>
            <a:pPr indent="0" marL="0">
              <a:buNone/>
            </a:pPr>
            <a:r>
              <a:rPr lang="en-US" sz="1150" dirty="0">
                <a:solidFill>
                  <a:srgbClr val="6A6480"/>
                </a:solidFill>
                <a:latin typeface="Calibri" pitchFamily="34" charset="0"/>
                <a:ea typeface="Calibri" pitchFamily="34" charset="-122"/>
                <a:cs typeface="Calibri" pitchFamily="34" charset="-120"/>
              </a:rPr>
              <a:t>origin check first, then threshold</a:t>
            </a:r>
            <a:endParaRPr lang="en-US" sz="1150" dirty="0"/>
          </a:p>
        </p:txBody>
      </p:sp>
      <p:sp>
        <p:nvSpPr>
          <p:cNvPr id="10" name="Shape 8"/>
          <p:cNvSpPr/>
          <p:nvPr/>
        </p:nvSpPr>
        <p:spPr>
          <a:xfrm>
            <a:off x="7882128" y="1847088"/>
            <a:ext cx="640080" cy="0"/>
          </a:xfrm>
          <a:prstGeom prst="line">
            <a:avLst/>
          </a:prstGeom>
          <a:noFill/>
          <a:ln w="25400">
            <a:solidFill>
              <a:srgbClr val="5B4BC4"/>
            </a:solidFill>
            <a:prstDash val="solid"/>
            <a:tailEnd type="triangle"/>
          </a:ln>
        </p:spPr>
      </p:sp>
      <p:sp>
        <p:nvSpPr>
          <p:cNvPr id="11" name="Shape 9"/>
          <p:cNvSpPr/>
          <p:nvPr/>
        </p:nvSpPr>
        <p:spPr>
          <a:xfrm>
            <a:off x="8595360" y="1325880"/>
            <a:ext cx="3246120" cy="1051560"/>
          </a:xfrm>
          <a:prstGeom prst="roundRect">
            <a:avLst>
              <a:gd name="adj" fmla="val 7826"/>
            </a:avLst>
          </a:prstGeom>
          <a:solidFill>
            <a:srgbClr val="FFFFFF"/>
          </a:solidFill>
          <a:ln w="9525">
            <a:solidFill>
              <a:srgbClr val="E3DEF2"/>
            </a:solidFill>
            <a:prstDash val="solid"/>
          </a:ln>
          <a:effectLst>
            <a:outerShdw sx="100000" sy="100000" kx="0" ky="0" algn="bl" rotWithShape="0" blurRad="76200" dist="25400" dir="5400000">
              <a:srgbClr val="2A2440">
                <a:alpha val="10000"/>
              </a:srgbClr>
            </a:outerShdw>
          </a:effectLst>
        </p:spPr>
      </p:sp>
      <p:sp>
        <p:nvSpPr>
          <p:cNvPr id="12" name="Text 10"/>
          <p:cNvSpPr txBox="1"/>
          <p:nvPr/>
        </p:nvSpPr>
        <p:spPr>
          <a:xfrm>
            <a:off x="8823960" y="1463040"/>
            <a:ext cx="2834640" cy="365760"/>
          </a:xfrm>
          <a:prstGeom prst="rect">
            <a:avLst/>
          </a:prstGeom>
          <a:noFill/>
          <a:ln/>
        </p:spPr>
        <p:txBody>
          <a:bodyPr wrap="square" lIns="0" tIns="0" rIns="0" bIns="0" rtlCol="0" anchor="ctr"/>
          <a:lstStyle/>
          <a:p>
            <a:pPr indent="0" marL="0">
              <a:buNone/>
            </a:pPr>
            <a:r>
              <a:rPr lang="en-US" sz="1500" b="1" dirty="0">
                <a:solidFill>
                  <a:srgbClr val="5B4BC4"/>
                </a:solidFill>
                <a:latin typeface="Calibri" pitchFamily="34" charset="0"/>
                <a:ea typeface="Calibri" pitchFamily="34" charset="-122"/>
                <a:cs typeface="Calibri" pitchFamily="34" charset="-120"/>
              </a:rPr>
              <a:t>Receipts remember</a:t>
            </a:r>
            <a:endParaRPr lang="en-US" sz="1500" dirty="0"/>
          </a:p>
        </p:txBody>
      </p:sp>
      <p:sp>
        <p:nvSpPr>
          <p:cNvPr id="13" name="Text 11"/>
          <p:cNvSpPr txBox="1"/>
          <p:nvPr/>
        </p:nvSpPr>
        <p:spPr>
          <a:xfrm>
            <a:off x="8823960" y="1828800"/>
            <a:ext cx="2834640" cy="365760"/>
          </a:xfrm>
          <a:prstGeom prst="rect">
            <a:avLst/>
          </a:prstGeom>
          <a:noFill/>
          <a:ln/>
        </p:spPr>
        <p:txBody>
          <a:bodyPr wrap="square" lIns="0" tIns="0" rIns="0" bIns="0" rtlCol="0" anchor="ctr"/>
          <a:lstStyle/>
          <a:p>
            <a:pPr indent="0" marL="0">
              <a:buNone/>
            </a:pPr>
            <a:r>
              <a:rPr lang="en-US" sz="1150" dirty="0">
                <a:solidFill>
                  <a:srgbClr val="6A6480"/>
                </a:solidFill>
                <a:latin typeface="Calibri" pitchFamily="34" charset="0"/>
                <a:ea typeface="Calibri" pitchFamily="34" charset="-122"/>
                <a:cs typeface="Calibri" pitchFamily="34" charset="-120"/>
              </a:rPr>
              <a:t>Ed25519, digest-bound, chained</a:t>
            </a:r>
            <a:endParaRPr lang="en-US" sz="1150" dirty="0"/>
          </a:p>
        </p:txBody>
      </p:sp>
      <p:sp>
        <p:nvSpPr>
          <p:cNvPr id="14" name="Text 12"/>
          <p:cNvSpPr txBox="1"/>
          <p:nvPr/>
        </p:nvSpPr>
        <p:spPr>
          <a:xfrm>
            <a:off x="548640" y="2743200"/>
            <a:ext cx="2743200" cy="365760"/>
          </a:xfrm>
          <a:prstGeom prst="rect">
            <a:avLst/>
          </a:prstGeom>
          <a:noFill/>
          <a:ln/>
        </p:spPr>
        <p:txBody>
          <a:bodyPr wrap="square" lIns="0" tIns="0" rIns="0" bIns="0" rtlCol="0" anchor="ctr"/>
          <a:lstStyle/>
          <a:p>
            <a:pPr indent="0" marL="0">
              <a:buNone/>
            </a:pPr>
            <a:r>
              <a:rPr lang="en-US" sz="1300" b="1" dirty="0">
                <a:solidFill>
                  <a:srgbClr val="2A2440"/>
                </a:solidFill>
                <a:latin typeface="Calibri" pitchFamily="34" charset="0"/>
                <a:ea typeface="Calibri" pitchFamily="34" charset="-122"/>
                <a:cs typeface="Calibri" pitchFamily="34" charset="-120"/>
              </a:rPr>
              <a:t>Evidence origins</a:t>
            </a:r>
            <a:endParaRPr lang="en-US" sz="1300" dirty="0"/>
          </a:p>
        </p:txBody>
      </p:sp>
      <p:sp>
        <p:nvSpPr>
          <p:cNvPr id="15" name="Text 13"/>
          <p:cNvSpPr txBox="1"/>
          <p:nvPr/>
        </p:nvSpPr>
        <p:spPr>
          <a:xfrm>
            <a:off x="2743200" y="2761488"/>
            <a:ext cx="1371600" cy="310896"/>
          </a:xfrm>
          <a:prstGeom prst="roundRect">
            <a:avLst>
              <a:gd name="adj" fmla="val 50000"/>
            </a:avLst>
          </a:prstGeom>
          <a:solidFill>
            <a:srgbClr val="DFF0E8"/>
          </a:solidFill>
          <a:ln/>
        </p:spPr>
        <p:txBody>
          <a:bodyPr wrap="square" lIns="0" tIns="0" rIns="0" bIns="0" rtlCol="0" anchor="ctr"/>
          <a:lstStyle/>
          <a:p>
            <a:pPr algn="ctr" indent="0" marL="0">
              <a:buNone/>
            </a:pPr>
            <a:r>
              <a:rPr lang="en-US" sz="1050" b="1" dirty="0">
                <a:solidFill>
                  <a:srgbClr val="1E7F5C"/>
                </a:solidFill>
                <a:latin typeface="Courier New" pitchFamily="34" charset="0"/>
                <a:ea typeface="Courier New" pitchFamily="34" charset="-122"/>
                <a:cs typeface="Courier New" pitchFamily="34" charset="-120"/>
              </a:rPr>
              <a:t>measured</a:t>
            </a:r>
            <a:endParaRPr lang="en-US" sz="1050" dirty="0"/>
          </a:p>
        </p:txBody>
      </p:sp>
      <p:sp>
        <p:nvSpPr>
          <p:cNvPr id="16" name="Text 14"/>
          <p:cNvSpPr txBox="1"/>
          <p:nvPr/>
        </p:nvSpPr>
        <p:spPr>
          <a:xfrm>
            <a:off x="4251960" y="2761488"/>
            <a:ext cx="1371600" cy="310896"/>
          </a:xfrm>
          <a:prstGeom prst="roundRect">
            <a:avLst>
              <a:gd name="adj" fmla="val 50000"/>
            </a:avLst>
          </a:prstGeom>
          <a:solidFill>
            <a:srgbClr val="E4DFF6"/>
          </a:solidFill>
          <a:ln/>
        </p:spPr>
        <p:txBody>
          <a:bodyPr wrap="square" lIns="0" tIns="0" rIns="0" bIns="0" rtlCol="0" anchor="ctr"/>
          <a:lstStyle/>
          <a:p>
            <a:pPr algn="ctr" indent="0" marL="0">
              <a:buNone/>
            </a:pPr>
            <a:r>
              <a:rPr lang="en-US" sz="1050" b="1" dirty="0">
                <a:solidFill>
                  <a:srgbClr val="5B4BC4"/>
                </a:solidFill>
                <a:latin typeface="Courier New" pitchFamily="34" charset="0"/>
                <a:ea typeface="Courier New" pitchFamily="34" charset="-122"/>
                <a:cs typeface="Courier New" pitchFamily="34" charset="-120"/>
              </a:rPr>
              <a:t>published</a:t>
            </a:r>
            <a:endParaRPr lang="en-US" sz="1050" dirty="0"/>
          </a:p>
        </p:txBody>
      </p:sp>
      <p:sp>
        <p:nvSpPr>
          <p:cNvPr id="17" name="Text 15"/>
          <p:cNvSpPr txBox="1"/>
          <p:nvPr/>
        </p:nvSpPr>
        <p:spPr>
          <a:xfrm>
            <a:off x="5760720" y="2761488"/>
            <a:ext cx="1371600" cy="310896"/>
          </a:xfrm>
          <a:prstGeom prst="roundRect">
            <a:avLst>
              <a:gd name="adj" fmla="val 50000"/>
            </a:avLst>
          </a:prstGeom>
          <a:solidFill>
            <a:srgbClr val="F5EBD3"/>
          </a:solidFill>
          <a:ln/>
        </p:spPr>
        <p:txBody>
          <a:bodyPr wrap="square" lIns="0" tIns="0" rIns="0" bIns="0" rtlCol="0" anchor="ctr"/>
          <a:lstStyle/>
          <a:p>
            <a:pPr algn="ctr" indent="0" marL="0">
              <a:buNone/>
            </a:pPr>
            <a:r>
              <a:rPr lang="en-US" sz="1050" b="1" dirty="0">
                <a:solidFill>
                  <a:srgbClr val="8A6A15"/>
                </a:solidFill>
                <a:latin typeface="Courier New" pitchFamily="34" charset="0"/>
                <a:ea typeface="Courier New" pitchFamily="34" charset="-122"/>
                <a:cs typeface="Courier New" pitchFamily="34" charset="-120"/>
              </a:rPr>
              <a:t>upstream</a:t>
            </a:r>
            <a:endParaRPr lang="en-US" sz="1050" dirty="0"/>
          </a:p>
        </p:txBody>
      </p:sp>
      <p:sp>
        <p:nvSpPr>
          <p:cNvPr id="18" name="Text 16"/>
          <p:cNvSpPr txBox="1"/>
          <p:nvPr/>
        </p:nvSpPr>
        <p:spPr>
          <a:xfrm>
            <a:off x="7269480" y="2761488"/>
            <a:ext cx="1371600" cy="310896"/>
          </a:xfrm>
          <a:prstGeom prst="roundRect">
            <a:avLst>
              <a:gd name="adj" fmla="val 50000"/>
            </a:avLst>
          </a:prstGeom>
          <a:solidFill>
            <a:srgbClr val="F5EBD3"/>
          </a:solidFill>
          <a:ln/>
        </p:spPr>
        <p:txBody>
          <a:bodyPr wrap="square" lIns="0" tIns="0" rIns="0" bIns="0" rtlCol="0" anchor="ctr"/>
          <a:lstStyle/>
          <a:p>
            <a:pPr algn="ctr" indent="0" marL="0">
              <a:buNone/>
            </a:pPr>
            <a:r>
              <a:rPr lang="en-US" sz="1050" b="1" dirty="0">
                <a:solidFill>
                  <a:srgbClr val="8A6A15"/>
                </a:solidFill>
                <a:latin typeface="Courier New" pitchFamily="34" charset="0"/>
                <a:ea typeface="Courier New" pitchFamily="34" charset="-122"/>
                <a:cs typeface="Courier New" pitchFamily="34" charset="-120"/>
              </a:rPr>
              <a:t>assumed</a:t>
            </a:r>
            <a:endParaRPr lang="en-US" sz="1050" dirty="0"/>
          </a:p>
        </p:txBody>
      </p:sp>
      <p:sp>
        <p:nvSpPr>
          <p:cNvPr id="19" name="Text 17"/>
          <p:cNvSpPr txBox="1"/>
          <p:nvPr/>
        </p:nvSpPr>
        <p:spPr>
          <a:xfrm>
            <a:off x="548640" y="3246120"/>
            <a:ext cx="11064240" cy="365760"/>
          </a:xfrm>
          <a:prstGeom prst="rect">
            <a:avLst/>
          </a:prstGeom>
          <a:noFill/>
          <a:ln/>
        </p:spPr>
        <p:txBody>
          <a:bodyPr wrap="square" lIns="0" tIns="0" rIns="0" bIns="0" rtlCol="0" anchor="ctr"/>
          <a:lstStyle/>
          <a:p>
            <a:pPr indent="0" marL="0">
              <a:buNone/>
            </a:pPr>
            <a:r>
              <a:rPr lang="en-US" sz="1300" dirty="0">
                <a:solidFill>
                  <a:srgbClr val="2A2440"/>
                </a:solidFill>
                <a:latin typeface="Calibri" pitchFamily="34" charset="0"/>
                <a:ea typeface="Calibri" pitchFamily="34" charset="-122"/>
                <a:cs typeface="Calibri" pitchFamily="34" charset="-120"/>
              </a:rPr>
              <a:t>A threshold match from an unaccepted origin is REVIEW, never PASS. A quote is not a measurement.</a:t>
            </a:r>
            <a:endParaRPr lang="en-US" sz="1300" dirty="0"/>
          </a:p>
        </p:txBody>
      </p:sp>
      <p:sp>
        <p:nvSpPr>
          <p:cNvPr id="20" name="Text 18"/>
          <p:cNvSpPr txBox="1"/>
          <p:nvPr/>
        </p:nvSpPr>
        <p:spPr>
          <a:xfrm>
            <a:off x="548640" y="3886200"/>
            <a:ext cx="1234440" cy="310896"/>
          </a:xfrm>
          <a:prstGeom prst="roundRect">
            <a:avLst>
              <a:gd name="adj" fmla="val 50000"/>
            </a:avLst>
          </a:prstGeom>
          <a:solidFill>
            <a:srgbClr val="DFF0E8"/>
          </a:solidFill>
          <a:ln/>
        </p:spPr>
        <p:txBody>
          <a:bodyPr wrap="square" lIns="0" tIns="0" rIns="0" bIns="0" rtlCol="0" anchor="ctr"/>
          <a:lstStyle/>
          <a:p>
            <a:pPr algn="ctr" indent="0" marL="0">
              <a:buNone/>
            </a:pPr>
            <a:r>
              <a:rPr lang="en-US" sz="1050" b="1" dirty="0">
                <a:solidFill>
                  <a:srgbClr val="1E7F5C"/>
                </a:solidFill>
                <a:latin typeface="Courier New" pitchFamily="34" charset="0"/>
                <a:ea typeface="Courier New" pitchFamily="34" charset="-122"/>
                <a:cs typeface="Courier New" pitchFamily="34" charset="-120"/>
              </a:rPr>
              <a:t>PASS</a:t>
            </a:r>
            <a:endParaRPr lang="en-US" sz="1050" dirty="0"/>
          </a:p>
        </p:txBody>
      </p:sp>
      <p:sp>
        <p:nvSpPr>
          <p:cNvPr id="21" name="Text 19"/>
          <p:cNvSpPr txBox="1"/>
          <p:nvPr/>
        </p:nvSpPr>
        <p:spPr>
          <a:xfrm>
            <a:off x="1920240" y="3904488"/>
            <a:ext cx="914400" cy="292608"/>
          </a:xfrm>
          <a:prstGeom prst="rect">
            <a:avLst/>
          </a:prstGeom>
          <a:noFill/>
          <a:ln/>
        </p:spPr>
        <p:txBody>
          <a:bodyPr wrap="square" lIns="0" tIns="0" rIns="0" bIns="0" rtlCol="0" anchor="ctr"/>
          <a:lstStyle/>
          <a:p>
            <a:pPr indent="0" marL="0">
              <a:buNone/>
            </a:pPr>
            <a:r>
              <a:rPr lang="en-US" sz="1100" dirty="0">
                <a:solidFill>
                  <a:srgbClr val="6A6480"/>
                </a:solidFill>
                <a:latin typeface="Calibri" pitchFamily="34" charset="0"/>
                <a:ea typeface="Calibri" pitchFamily="34" charset="-122"/>
                <a:cs typeface="Calibri" pitchFamily="34" charset="-120"/>
              </a:rPr>
              <a:t>maps to</a:t>
            </a:r>
            <a:endParaRPr lang="en-US" sz="1100" dirty="0"/>
          </a:p>
        </p:txBody>
      </p:sp>
      <p:sp>
        <p:nvSpPr>
          <p:cNvPr id="22" name="Text 20"/>
          <p:cNvSpPr txBox="1"/>
          <p:nvPr/>
        </p:nvSpPr>
        <p:spPr>
          <a:xfrm>
            <a:off x="2880360" y="3886200"/>
            <a:ext cx="1371600" cy="310896"/>
          </a:xfrm>
          <a:prstGeom prst="roundRect">
            <a:avLst>
              <a:gd name="adj" fmla="val 50000"/>
            </a:avLst>
          </a:prstGeom>
          <a:solidFill>
            <a:srgbClr val="DFF0E8"/>
          </a:solidFill>
          <a:ln/>
        </p:spPr>
        <p:txBody>
          <a:bodyPr wrap="square" lIns="0" tIns="0" rIns="0" bIns="0" rtlCol="0" anchor="ctr"/>
          <a:lstStyle/>
          <a:p>
            <a:pPr algn="ctr" indent="0" marL="0">
              <a:buNone/>
            </a:pPr>
            <a:r>
              <a:rPr lang="en-US" sz="1050" b="1" dirty="0">
                <a:solidFill>
                  <a:srgbClr val="1E7F5C"/>
                </a:solidFill>
                <a:latin typeface="Courier New" pitchFamily="34" charset="0"/>
                <a:ea typeface="Courier New" pitchFamily="34" charset="-122"/>
                <a:cs typeface="Courier New" pitchFamily="34" charset="-120"/>
              </a:rPr>
              <a:t>CONTINUE</a:t>
            </a:r>
            <a:endParaRPr lang="en-US" sz="1050" dirty="0"/>
          </a:p>
        </p:txBody>
      </p:sp>
      <p:sp>
        <p:nvSpPr>
          <p:cNvPr id="23" name="Text 21"/>
          <p:cNvSpPr txBox="1"/>
          <p:nvPr/>
        </p:nvSpPr>
        <p:spPr>
          <a:xfrm>
            <a:off x="6309360" y="3886200"/>
            <a:ext cx="1234440" cy="310896"/>
          </a:xfrm>
          <a:prstGeom prst="roundRect">
            <a:avLst>
              <a:gd name="adj" fmla="val 50000"/>
            </a:avLst>
          </a:prstGeom>
          <a:solidFill>
            <a:srgbClr val="F5EBD3"/>
          </a:solidFill>
          <a:ln/>
        </p:spPr>
        <p:txBody>
          <a:bodyPr wrap="square" lIns="0" tIns="0" rIns="0" bIns="0" rtlCol="0" anchor="ctr"/>
          <a:lstStyle/>
          <a:p>
            <a:pPr algn="ctr" indent="0" marL="0">
              <a:buNone/>
            </a:pPr>
            <a:r>
              <a:rPr lang="en-US" sz="1050" b="1" dirty="0">
                <a:solidFill>
                  <a:srgbClr val="8A6A15"/>
                </a:solidFill>
                <a:latin typeface="Courier New" pitchFamily="34" charset="0"/>
                <a:ea typeface="Courier New" pitchFamily="34" charset="-122"/>
                <a:cs typeface="Courier New" pitchFamily="34" charset="-120"/>
              </a:rPr>
              <a:t>REVIEW</a:t>
            </a:r>
            <a:endParaRPr lang="en-US" sz="1050" dirty="0"/>
          </a:p>
        </p:txBody>
      </p:sp>
      <p:sp>
        <p:nvSpPr>
          <p:cNvPr id="24" name="Text 22"/>
          <p:cNvSpPr txBox="1"/>
          <p:nvPr/>
        </p:nvSpPr>
        <p:spPr>
          <a:xfrm>
            <a:off x="7680960" y="3904488"/>
            <a:ext cx="914400" cy="292608"/>
          </a:xfrm>
          <a:prstGeom prst="rect">
            <a:avLst/>
          </a:prstGeom>
          <a:noFill/>
          <a:ln/>
        </p:spPr>
        <p:txBody>
          <a:bodyPr wrap="square" lIns="0" tIns="0" rIns="0" bIns="0" rtlCol="0" anchor="ctr"/>
          <a:lstStyle/>
          <a:p>
            <a:pPr indent="0" marL="0">
              <a:buNone/>
            </a:pPr>
            <a:r>
              <a:rPr lang="en-US" sz="1100" dirty="0">
                <a:solidFill>
                  <a:srgbClr val="6A6480"/>
                </a:solidFill>
                <a:latin typeface="Calibri" pitchFamily="34" charset="0"/>
                <a:ea typeface="Calibri" pitchFamily="34" charset="-122"/>
                <a:cs typeface="Calibri" pitchFamily="34" charset="-120"/>
              </a:rPr>
              <a:t>maps to</a:t>
            </a:r>
            <a:endParaRPr lang="en-US" sz="1100" dirty="0"/>
          </a:p>
        </p:txBody>
      </p:sp>
      <p:sp>
        <p:nvSpPr>
          <p:cNvPr id="25" name="Text 23"/>
          <p:cNvSpPr txBox="1"/>
          <p:nvPr/>
        </p:nvSpPr>
        <p:spPr>
          <a:xfrm>
            <a:off x="8641080" y="3886200"/>
            <a:ext cx="1371600" cy="310896"/>
          </a:xfrm>
          <a:prstGeom prst="roundRect">
            <a:avLst>
              <a:gd name="adj" fmla="val 50000"/>
            </a:avLst>
          </a:prstGeom>
          <a:solidFill>
            <a:srgbClr val="F5EBD3"/>
          </a:solidFill>
          <a:ln/>
        </p:spPr>
        <p:txBody>
          <a:bodyPr wrap="square" lIns="0" tIns="0" rIns="0" bIns="0" rtlCol="0" anchor="ctr"/>
          <a:lstStyle/>
          <a:p>
            <a:pPr algn="ctr" indent="0" marL="0">
              <a:buNone/>
            </a:pPr>
            <a:r>
              <a:rPr lang="en-US" sz="1050" b="1" dirty="0">
                <a:solidFill>
                  <a:srgbClr val="8A6A15"/>
                </a:solidFill>
                <a:latin typeface="Courier New" pitchFamily="34" charset="0"/>
                <a:ea typeface="Courier New" pitchFamily="34" charset="-122"/>
                <a:cs typeface="Courier New" pitchFamily="34" charset="-120"/>
              </a:rPr>
              <a:t>PAUSE</a:t>
            </a:r>
            <a:endParaRPr lang="en-US" sz="1050" dirty="0"/>
          </a:p>
        </p:txBody>
      </p:sp>
      <p:sp>
        <p:nvSpPr>
          <p:cNvPr id="26" name="Text 24"/>
          <p:cNvSpPr txBox="1"/>
          <p:nvPr/>
        </p:nvSpPr>
        <p:spPr>
          <a:xfrm>
            <a:off x="548640" y="4480560"/>
            <a:ext cx="1234440" cy="310896"/>
          </a:xfrm>
          <a:prstGeom prst="roundRect">
            <a:avLst>
              <a:gd name="adj" fmla="val 50000"/>
            </a:avLst>
          </a:prstGeom>
          <a:solidFill>
            <a:srgbClr val="F6E2E2"/>
          </a:solidFill>
          <a:ln/>
        </p:spPr>
        <p:txBody>
          <a:bodyPr wrap="square" lIns="0" tIns="0" rIns="0" bIns="0" rtlCol="0" anchor="ctr"/>
          <a:lstStyle/>
          <a:p>
            <a:pPr algn="ctr" indent="0" marL="0">
              <a:buNone/>
            </a:pPr>
            <a:r>
              <a:rPr lang="en-US" sz="1050" b="1" dirty="0">
                <a:solidFill>
                  <a:srgbClr val="B03030"/>
                </a:solidFill>
                <a:latin typeface="Courier New" pitchFamily="34" charset="0"/>
                <a:ea typeface="Courier New" pitchFamily="34" charset="-122"/>
                <a:cs typeface="Courier New" pitchFamily="34" charset="-120"/>
              </a:rPr>
              <a:t>FAIL</a:t>
            </a:r>
            <a:endParaRPr lang="en-US" sz="1050" dirty="0"/>
          </a:p>
        </p:txBody>
      </p:sp>
      <p:sp>
        <p:nvSpPr>
          <p:cNvPr id="27" name="Text 25"/>
          <p:cNvSpPr txBox="1"/>
          <p:nvPr/>
        </p:nvSpPr>
        <p:spPr>
          <a:xfrm>
            <a:off x="1920240" y="4498848"/>
            <a:ext cx="914400" cy="292608"/>
          </a:xfrm>
          <a:prstGeom prst="rect">
            <a:avLst/>
          </a:prstGeom>
          <a:noFill/>
          <a:ln/>
        </p:spPr>
        <p:txBody>
          <a:bodyPr wrap="square" lIns="0" tIns="0" rIns="0" bIns="0" rtlCol="0" anchor="ctr"/>
          <a:lstStyle/>
          <a:p>
            <a:pPr indent="0" marL="0">
              <a:buNone/>
            </a:pPr>
            <a:r>
              <a:rPr lang="en-US" sz="1100" dirty="0">
                <a:solidFill>
                  <a:srgbClr val="6A6480"/>
                </a:solidFill>
                <a:latin typeface="Calibri" pitchFamily="34" charset="0"/>
                <a:ea typeface="Calibri" pitchFamily="34" charset="-122"/>
                <a:cs typeface="Calibri" pitchFamily="34" charset="-120"/>
              </a:rPr>
              <a:t>maps to</a:t>
            </a:r>
            <a:endParaRPr lang="en-US" sz="1100" dirty="0"/>
          </a:p>
        </p:txBody>
      </p:sp>
      <p:sp>
        <p:nvSpPr>
          <p:cNvPr id="28" name="Text 26"/>
          <p:cNvSpPr txBox="1"/>
          <p:nvPr/>
        </p:nvSpPr>
        <p:spPr>
          <a:xfrm>
            <a:off x="2880360" y="4480560"/>
            <a:ext cx="1371600" cy="310896"/>
          </a:xfrm>
          <a:prstGeom prst="roundRect">
            <a:avLst>
              <a:gd name="adj" fmla="val 50000"/>
            </a:avLst>
          </a:prstGeom>
          <a:solidFill>
            <a:srgbClr val="F5EBD3"/>
          </a:solidFill>
          <a:ln/>
        </p:spPr>
        <p:txBody>
          <a:bodyPr wrap="square" lIns="0" tIns="0" rIns="0" bIns="0" rtlCol="0" anchor="ctr"/>
          <a:lstStyle/>
          <a:p>
            <a:pPr algn="ctr" indent="0" marL="0">
              <a:buNone/>
            </a:pPr>
            <a:r>
              <a:rPr lang="en-US" sz="1050" b="1" dirty="0">
                <a:solidFill>
                  <a:srgbClr val="8A6A15"/>
                </a:solidFill>
                <a:latin typeface="Courier New" pitchFamily="34" charset="0"/>
                <a:ea typeface="Courier New" pitchFamily="34" charset="-122"/>
                <a:cs typeface="Courier New" pitchFamily="34" charset="-120"/>
              </a:rPr>
              <a:t>PAUSE</a:t>
            </a:r>
            <a:endParaRPr lang="en-US" sz="1050" dirty="0"/>
          </a:p>
        </p:txBody>
      </p:sp>
      <p:sp>
        <p:nvSpPr>
          <p:cNvPr id="29" name="Text 27"/>
          <p:cNvSpPr txBox="1"/>
          <p:nvPr/>
        </p:nvSpPr>
        <p:spPr>
          <a:xfrm>
            <a:off x="6309360" y="4480560"/>
            <a:ext cx="1234440" cy="310896"/>
          </a:xfrm>
          <a:prstGeom prst="roundRect">
            <a:avLst>
              <a:gd name="adj" fmla="val 50000"/>
            </a:avLst>
          </a:prstGeom>
          <a:solidFill>
            <a:srgbClr val="F6E2E2"/>
          </a:solidFill>
          <a:ln/>
        </p:spPr>
        <p:txBody>
          <a:bodyPr wrap="square" lIns="0" tIns="0" rIns="0" bIns="0" rtlCol="0" anchor="ctr"/>
          <a:lstStyle/>
          <a:p>
            <a:pPr algn="ctr" indent="0" marL="0">
              <a:buNone/>
            </a:pPr>
            <a:r>
              <a:rPr lang="en-US" sz="1050" b="1" dirty="0">
                <a:solidFill>
                  <a:srgbClr val="B03030"/>
                </a:solidFill>
                <a:latin typeface="Courier New" pitchFamily="34" charset="0"/>
                <a:ea typeface="Courier New" pitchFamily="34" charset="-122"/>
                <a:cs typeface="Courier New" pitchFamily="34" charset="-120"/>
              </a:rPr>
              <a:t>BLOCK</a:t>
            </a:r>
            <a:endParaRPr lang="en-US" sz="1050" dirty="0"/>
          </a:p>
        </p:txBody>
      </p:sp>
      <p:sp>
        <p:nvSpPr>
          <p:cNvPr id="30" name="Text 28"/>
          <p:cNvSpPr txBox="1"/>
          <p:nvPr/>
        </p:nvSpPr>
        <p:spPr>
          <a:xfrm>
            <a:off x="7680960" y="4498848"/>
            <a:ext cx="914400" cy="292608"/>
          </a:xfrm>
          <a:prstGeom prst="rect">
            <a:avLst/>
          </a:prstGeom>
          <a:noFill/>
          <a:ln/>
        </p:spPr>
        <p:txBody>
          <a:bodyPr wrap="square" lIns="0" tIns="0" rIns="0" bIns="0" rtlCol="0" anchor="ctr"/>
          <a:lstStyle/>
          <a:p>
            <a:pPr indent="0" marL="0">
              <a:buNone/>
            </a:pPr>
            <a:r>
              <a:rPr lang="en-US" sz="1100" dirty="0">
                <a:solidFill>
                  <a:srgbClr val="6A6480"/>
                </a:solidFill>
                <a:latin typeface="Calibri" pitchFamily="34" charset="0"/>
                <a:ea typeface="Calibri" pitchFamily="34" charset="-122"/>
                <a:cs typeface="Calibri" pitchFamily="34" charset="-120"/>
              </a:rPr>
              <a:t>maps to</a:t>
            </a:r>
            <a:endParaRPr lang="en-US" sz="1100" dirty="0"/>
          </a:p>
        </p:txBody>
      </p:sp>
      <p:sp>
        <p:nvSpPr>
          <p:cNvPr id="31" name="Text 29"/>
          <p:cNvSpPr txBox="1"/>
          <p:nvPr/>
        </p:nvSpPr>
        <p:spPr>
          <a:xfrm>
            <a:off x="8641080" y="4480560"/>
            <a:ext cx="1371600" cy="310896"/>
          </a:xfrm>
          <a:prstGeom prst="roundRect">
            <a:avLst>
              <a:gd name="adj" fmla="val 50000"/>
            </a:avLst>
          </a:prstGeom>
          <a:solidFill>
            <a:srgbClr val="F6E2E2"/>
          </a:solidFill>
          <a:ln/>
        </p:spPr>
        <p:txBody>
          <a:bodyPr wrap="square" lIns="0" tIns="0" rIns="0" bIns="0" rtlCol="0" anchor="ctr"/>
          <a:lstStyle/>
          <a:p>
            <a:pPr algn="ctr" indent="0" marL="0">
              <a:buNone/>
            </a:pPr>
            <a:r>
              <a:rPr lang="en-US" sz="1050" b="1" dirty="0">
                <a:solidFill>
                  <a:srgbClr val="B03030"/>
                </a:solidFill>
                <a:latin typeface="Courier New" pitchFamily="34" charset="0"/>
                <a:ea typeface="Courier New" pitchFamily="34" charset="-122"/>
                <a:cs typeface="Courier New" pitchFamily="34" charset="-120"/>
              </a:rPr>
              <a:t>STOP</a:t>
            </a:r>
            <a:endParaRPr lang="en-US" sz="1050" dirty="0"/>
          </a:p>
        </p:txBody>
      </p:sp>
      <p:sp>
        <p:nvSpPr>
          <p:cNvPr id="32" name="Text 30"/>
          <p:cNvSpPr txBox="1"/>
          <p:nvPr/>
        </p:nvSpPr>
        <p:spPr>
          <a:xfrm>
            <a:off x="548640" y="5440680"/>
            <a:ext cx="11064240" cy="640080"/>
          </a:xfrm>
          <a:prstGeom prst="rect">
            <a:avLst/>
          </a:prstGeom>
          <a:noFill/>
          <a:ln/>
        </p:spPr>
        <p:txBody>
          <a:bodyPr wrap="square" lIns="0" tIns="0" rIns="0" bIns="0" rtlCol="0" anchor="ctr"/>
          <a:lstStyle/>
          <a:p>
            <a:pPr indent="0" marL="0">
              <a:buNone/>
            </a:pPr>
            <a:r>
              <a:rPr lang="en-US" sz="1300" b="1" dirty="0">
                <a:solidFill>
                  <a:srgbClr val="2A2440"/>
                </a:solidFill>
                <a:latin typeface="Calibri" pitchFamily="34" charset="0"/>
                <a:ea typeface="Calibri" pitchFamily="34" charset="-122"/>
                <a:cs typeface="Calibri" pitchFamily="34" charset="-120"/>
              </a:rPr>
              <a:t>Only REVIEW is overridable: named actor, reason, scope. The override is itself a signed receipt. Integrity failures are never overridable.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B"/>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85800"/>
          </a:xfrm>
          <a:prstGeom prst="rect">
            <a:avLst/>
          </a:prstGeom>
          <a:noFill/>
          <a:ln/>
        </p:spPr>
        <p:txBody>
          <a:bodyPr wrap="square" lIns="0" tIns="0" rIns="0" bIns="0" rtlCol="0" anchor="ctr"/>
          <a:lstStyle/>
          <a:p>
            <a:pPr indent="0" marL="0">
              <a:buNone/>
            </a:pPr>
            <a:r>
              <a:rPr lang="en-US" sz="3200" b="1" dirty="0">
                <a:solidFill>
                  <a:srgbClr val="2A2440"/>
                </a:solidFill>
                <a:latin typeface="Calibri" pitchFamily="34" charset="0"/>
                <a:ea typeface="Calibri" pitchFamily="34" charset="-122"/>
                <a:cs typeface="Calibri" pitchFamily="34" charset="-120"/>
              </a:rPr>
              <a:t>We tried to break the gate before asking you to trust it</a:t>
            </a:r>
            <a:endParaRPr lang="en-US" sz="3200" dirty="0"/>
          </a:p>
        </p:txBody>
      </p:sp>
      <p:graphicFrame>
        <p:nvGraphicFramePr>
          <p:cNvPr id="3" name="Chart 0" descr=""/>
          <p:cNvGraphicFramePr/>
          <p:nvPr/>
        </p:nvGraphicFramePr>
        <p:xfrm>
          <a:off x="548640" y="1417320"/>
          <a:ext cx="5852160" cy="39319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858000" y="1371600"/>
            <a:ext cx="4754880" cy="822960"/>
          </a:xfrm>
          <a:prstGeom prst="rect">
            <a:avLst/>
          </a:prstGeom>
          <a:noFill/>
          <a:ln/>
        </p:spPr>
        <p:txBody>
          <a:bodyPr wrap="square" lIns="0" tIns="0" rIns="0" bIns="0" rtlCol="0" anchor="ctr"/>
          <a:lstStyle/>
          <a:p>
            <a:pPr indent="0" marL="0">
              <a:buNone/>
            </a:pPr>
            <a:r>
              <a:rPr lang="en-US" sz="5200" b="1" dirty="0">
                <a:solidFill>
                  <a:srgbClr val="5B4BC4"/>
                </a:solidFill>
                <a:latin typeface="Calibri" pitchFamily="34" charset="0"/>
                <a:ea typeface="Calibri" pitchFamily="34" charset="-122"/>
                <a:cs typeface="Calibri" pitchFamily="34" charset="-120"/>
              </a:rPr>
              <a:t>3.94x</a:t>
            </a:r>
            <a:endParaRPr lang="en-US" sz="5200" dirty="0"/>
          </a:p>
        </p:txBody>
      </p:sp>
      <p:sp>
        <p:nvSpPr>
          <p:cNvPr id="5" name="Text 2"/>
          <p:cNvSpPr txBox="1"/>
          <p:nvPr/>
        </p:nvSpPr>
        <p:spPr>
          <a:xfrm>
            <a:off x="6858000" y="2194560"/>
            <a:ext cx="4754880" cy="365760"/>
          </a:xfrm>
          <a:prstGeom prst="rect">
            <a:avLst/>
          </a:prstGeom>
          <a:noFill/>
          <a:ln/>
        </p:spPr>
        <p:txBody>
          <a:bodyPr wrap="square" lIns="0" tIns="0" rIns="0" bIns="0" rtlCol="0" anchor="ctr"/>
          <a:lstStyle/>
          <a:p>
            <a:pPr indent="0" marL="0">
              <a:buNone/>
            </a:pPr>
            <a:r>
              <a:rPr lang="en-US" sz="1250" dirty="0">
                <a:solidFill>
                  <a:srgbClr val="2A2440"/>
                </a:solidFill>
                <a:latin typeface="Calibri" pitchFamily="34" charset="0"/>
                <a:ea typeface="Calibri" pitchFamily="34" charset="-122"/>
                <a:cs typeface="Calibri" pitchFamily="34" charset="-120"/>
              </a:rPr>
              <a:t>memory reduction: 1024 to 260 bytes per vector</a:t>
            </a:r>
            <a:endParaRPr lang="en-US" sz="1250" dirty="0"/>
          </a:p>
        </p:txBody>
      </p:sp>
      <p:sp>
        <p:nvSpPr>
          <p:cNvPr id="6" name="Text 3"/>
          <p:cNvSpPr txBox="1"/>
          <p:nvPr/>
        </p:nvSpPr>
        <p:spPr>
          <a:xfrm>
            <a:off x="6858000" y="2788920"/>
            <a:ext cx="4754880" cy="640080"/>
          </a:xfrm>
          <a:prstGeom prst="rect">
            <a:avLst/>
          </a:prstGeom>
          <a:noFill/>
          <a:ln/>
        </p:spPr>
        <p:txBody>
          <a:bodyPr wrap="square" lIns="0" tIns="0" rIns="0" bIns="0" rtlCol="0" anchor="ctr"/>
          <a:lstStyle/>
          <a:p>
            <a:pPr indent="0" marL="0">
              <a:buNone/>
            </a:pPr>
            <a:r>
              <a:rPr lang="en-US" sz="3400" b="1" dirty="0">
                <a:solidFill>
                  <a:srgbClr val="2A2440"/>
                </a:solidFill>
                <a:latin typeface="Calibri" pitchFamily="34" charset="0"/>
                <a:ea typeface="Calibri" pitchFamily="34" charset="-122"/>
                <a:cs typeface="Calibri" pitchFamily="34" charset="-120"/>
              </a:rPr>
              <a:t>0.988 / 0.944</a:t>
            </a:r>
            <a:endParaRPr lang="en-US" sz="3400" dirty="0"/>
          </a:p>
        </p:txBody>
      </p:sp>
      <p:sp>
        <p:nvSpPr>
          <p:cNvPr id="7" name="Text 4"/>
          <p:cNvSpPr txBox="1"/>
          <p:nvPr/>
        </p:nvSpPr>
        <p:spPr>
          <a:xfrm>
            <a:off x="6858000" y="3429000"/>
            <a:ext cx="4754880" cy="365760"/>
          </a:xfrm>
          <a:prstGeom prst="rect">
            <a:avLst/>
          </a:prstGeom>
          <a:noFill/>
          <a:ln/>
        </p:spPr>
        <p:txBody>
          <a:bodyPr wrap="square" lIns="0" tIns="0" rIns="0" bIns="0" rtlCol="0" anchor="ctr"/>
          <a:lstStyle/>
          <a:p>
            <a:pPr indent="0" marL="0">
              <a:buNone/>
            </a:pPr>
            <a:r>
              <a:rPr lang="en-US" sz="1250" dirty="0">
                <a:solidFill>
                  <a:srgbClr val="2A2440"/>
                </a:solidFill>
                <a:latin typeface="Calibri" pitchFamily="34" charset="0"/>
                <a:ea typeface="Calibri" pitchFamily="34" charset="-122"/>
                <a:cs typeface="Calibri" pitchFamily="34" charset="-120"/>
              </a:rPr>
              <a:t>recall@10, int8 and HNSW, against exact ground truth</a:t>
            </a:r>
            <a:endParaRPr lang="en-US" sz="1250" dirty="0"/>
          </a:p>
        </p:txBody>
      </p:sp>
      <p:sp>
        <p:nvSpPr>
          <p:cNvPr id="8" name="Text 5"/>
          <p:cNvSpPr txBox="1"/>
          <p:nvPr/>
        </p:nvSpPr>
        <p:spPr>
          <a:xfrm>
            <a:off x="6858000" y="3977640"/>
            <a:ext cx="4754880" cy="822960"/>
          </a:xfrm>
          <a:prstGeom prst="rect">
            <a:avLst/>
          </a:prstGeom>
          <a:noFill/>
          <a:ln/>
        </p:spPr>
        <p:txBody>
          <a:bodyPr wrap="square" lIns="0" tIns="0" rIns="0" bIns="0" rtlCol="0" anchor="ctr"/>
          <a:lstStyle/>
          <a:p>
            <a:pPr indent="0" marL="0">
              <a:buNone/>
            </a:pPr>
            <a:r>
              <a:rPr lang="en-US" sz="1050" i="1" dirty="0">
                <a:solidFill>
                  <a:srgbClr val="6A6480"/>
                </a:solidFill>
                <a:latin typeface="Calibri" pitchFamily="34" charset="0"/>
                <a:ea typeface="Calibri" pitchFamily="34" charset="-122"/>
                <a:cs typeface="Calibri" pitchFamily="34" charset="-120"/>
              </a:rPr>
              <a:t>HNSW latency crosses runtimes (native SIMD Rust vs a JS loop): read it as packaged-system latency for a deployment decision.</a:t>
            </a:r>
            <a:endParaRPr lang="en-US" sz="1050" dirty="0"/>
          </a:p>
        </p:txBody>
      </p:sp>
      <p:sp>
        <p:nvSpPr>
          <p:cNvPr id="9" name="Text 6"/>
          <p:cNvSpPr txBox="1"/>
          <p:nvPr/>
        </p:nvSpPr>
        <p:spPr>
          <a:xfrm>
            <a:off x="548640" y="5806440"/>
            <a:ext cx="11064240" cy="365760"/>
          </a:xfrm>
          <a:prstGeom prst="rect">
            <a:avLst/>
          </a:prstGeom>
          <a:noFill/>
          <a:ln/>
        </p:spPr>
        <p:txBody>
          <a:bodyPr wrap="square" lIns="0" tIns="0" rIns="0" bIns="0" rtlCol="0" anchor="ctr"/>
          <a:lstStyle/>
          <a:p>
            <a:pPr indent="0" marL="0">
              <a:buNone/>
            </a:pPr>
            <a:r>
              <a:rPr lang="en-US" sz="1150" dirty="0">
                <a:solidFill>
                  <a:srgbClr val="5B4BC4"/>
                </a:solidFill>
                <a:latin typeface="Courier New" pitchFamily="34" charset="0"/>
                <a:ea typeface="Courier New" pitchFamily="34" charset="-122"/>
                <a:cs typeface="Courier New" pitchFamily="34" charset="-120"/>
              </a:rPr>
              <a:t>7/7 verdicts incl. hard-inside-margin · unauthorised signer rejected · wrong verdict caught by replay · 3/3 tamper caught · verify p95 under 0.25 ms · 0 outbound attempts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B"/>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85800"/>
          </a:xfrm>
          <a:prstGeom prst="rect">
            <a:avLst/>
          </a:prstGeom>
          <a:noFill/>
          <a:ln/>
        </p:spPr>
        <p:txBody>
          <a:bodyPr wrap="square" lIns="0" tIns="0" rIns="0" bIns="0" rtlCol="0" anchor="ctr"/>
          <a:lstStyle/>
          <a:p>
            <a:pPr indent="0" marL="0">
              <a:buNone/>
            </a:pPr>
            <a:r>
              <a:rPr lang="en-US" sz="3200" b="1" dirty="0">
                <a:solidFill>
                  <a:srgbClr val="2A2440"/>
                </a:solidFill>
                <a:latin typeface="Calibri" pitchFamily="34" charset="0"/>
                <a:ea typeface="Calibri" pitchFamily="34" charset="-122"/>
                <a:cs typeface="Calibri" pitchFamily="34" charset="-120"/>
              </a:rPr>
              <a:t>Watch the baseline fail open</a:t>
            </a:r>
            <a:endParaRPr lang="en-US" sz="3200" dirty="0"/>
          </a:p>
        </p:txBody>
      </p:sp>
      <p:sp>
        <p:nvSpPr>
          <p:cNvPr id="3" name="Shape 1"/>
          <p:cNvSpPr/>
          <p:nvPr/>
        </p:nvSpPr>
        <p:spPr>
          <a:xfrm>
            <a:off x="548640" y="1408176"/>
            <a:ext cx="475488" cy="475488"/>
          </a:xfrm>
          <a:prstGeom prst="ellipse">
            <a:avLst/>
          </a:prstGeom>
          <a:solidFill>
            <a:srgbClr val="5B4BC4"/>
          </a:solidFill>
          <a:ln/>
        </p:spPr>
      </p:sp>
      <p:sp>
        <p:nvSpPr>
          <p:cNvPr id="4" name="Text 2"/>
          <p:cNvSpPr txBox="1"/>
          <p:nvPr/>
        </p:nvSpPr>
        <p:spPr>
          <a:xfrm>
            <a:off x="548640" y="1408176"/>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234440" y="1298448"/>
            <a:ext cx="8732520" cy="822960"/>
          </a:xfrm>
          <a:prstGeom prst="rect">
            <a:avLst/>
          </a:prstGeom>
          <a:noFill/>
          <a:ln/>
        </p:spPr>
        <p:txBody>
          <a:bodyPr wrap="square" lIns="0" tIns="0" rIns="0" bIns="0" rtlCol="0" anchor="ctr"/>
          <a:lstStyle/>
          <a:p>
            <a:pPr indent="0" marL="0">
              <a:buNone/>
            </a:pPr>
            <a:r>
              <a:rPr lang="en-US" sz="1250" dirty="0">
                <a:solidFill>
                  <a:srgbClr val="2A2440"/>
                </a:solidFill>
                <a:latin typeface="Calibri" pitchFamily="34" charset="0"/>
                <a:ea typeface="Calibri" pitchFamily="34" charset="-122"/>
                <a:cs typeface="Calibri" pitchFamily="34" charset="-120"/>
              </a:rPr>
              <a:t>The naive checker passes an upstream 82 ms quote against the CLAIM-4 pattern. The gate answers REVIEW and PAUSE, naming the origin.</a:t>
            </a:r>
            <a:endParaRPr lang="en-US" sz="1250" dirty="0"/>
          </a:p>
        </p:txBody>
      </p:sp>
      <p:sp>
        <p:nvSpPr>
          <p:cNvPr id="6" name="Text 4"/>
          <p:cNvSpPr txBox="1"/>
          <p:nvPr/>
        </p:nvSpPr>
        <p:spPr>
          <a:xfrm>
            <a:off x="10195560" y="1499616"/>
            <a:ext cx="1417320" cy="310896"/>
          </a:xfrm>
          <a:prstGeom prst="roundRect">
            <a:avLst>
              <a:gd name="adj" fmla="val 50000"/>
            </a:avLst>
          </a:prstGeom>
          <a:solidFill>
            <a:srgbClr val="F5EBD3"/>
          </a:solidFill>
          <a:ln/>
        </p:spPr>
        <p:txBody>
          <a:bodyPr wrap="square" lIns="0" tIns="0" rIns="0" bIns="0" rtlCol="0" anchor="ctr"/>
          <a:lstStyle/>
          <a:p>
            <a:pPr algn="ctr" indent="0" marL="0">
              <a:buNone/>
            </a:pPr>
            <a:r>
              <a:rPr lang="en-US" sz="1050" b="1" dirty="0">
                <a:solidFill>
                  <a:srgbClr val="8A6A15"/>
                </a:solidFill>
                <a:latin typeface="Courier New" pitchFamily="34" charset="0"/>
                <a:ea typeface="Courier New" pitchFamily="34" charset="-122"/>
                <a:cs typeface="Courier New" pitchFamily="34" charset="-120"/>
              </a:rPr>
              <a:t>REVIEW</a:t>
            </a:r>
            <a:endParaRPr lang="en-US" sz="1050" dirty="0"/>
          </a:p>
        </p:txBody>
      </p:sp>
      <p:sp>
        <p:nvSpPr>
          <p:cNvPr id="7" name="Shape 5"/>
          <p:cNvSpPr/>
          <p:nvPr/>
        </p:nvSpPr>
        <p:spPr>
          <a:xfrm>
            <a:off x="548640" y="2340864"/>
            <a:ext cx="475488" cy="475488"/>
          </a:xfrm>
          <a:prstGeom prst="ellipse">
            <a:avLst/>
          </a:prstGeom>
          <a:solidFill>
            <a:srgbClr val="5B4BC4"/>
          </a:solidFill>
          <a:ln/>
        </p:spPr>
      </p:sp>
      <p:sp>
        <p:nvSpPr>
          <p:cNvPr id="8" name="Text 6"/>
          <p:cNvSpPr txBox="1"/>
          <p:nvPr/>
        </p:nvSpPr>
        <p:spPr>
          <a:xfrm>
            <a:off x="548640" y="234086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234440" y="2231136"/>
            <a:ext cx="8732520" cy="822960"/>
          </a:xfrm>
          <a:prstGeom prst="rect">
            <a:avLst/>
          </a:prstGeom>
          <a:noFill/>
          <a:ln/>
        </p:spPr>
        <p:txBody>
          <a:bodyPr wrap="square" lIns="0" tIns="0" rIns="0" bIns="0" rtlCol="0" anchor="ctr"/>
          <a:lstStyle/>
          <a:p>
            <a:pPr indent="0" marL="0">
              <a:buNone/>
            </a:pPr>
            <a:r>
              <a:rPr lang="en-US" sz="1250" dirty="0">
                <a:solidFill>
                  <a:srgbClr val="2A2440"/>
                </a:solidFill>
                <a:latin typeface="Calibri" pitchFamily="34" charset="0"/>
                <a:ea typeface="Calibri" pitchFamily="34" charset="-122"/>
                <a:cs typeface="Calibri" pitchFamily="34" charset="-120"/>
              </a:rPr>
              <a:t>Placement pair: identical claims, two zones. Sweden CONTINUE, Greece STOP under the workload-declared 100 g budget (Ember 2024, Eurostat 2025-S2).</a:t>
            </a:r>
            <a:endParaRPr lang="en-US" sz="1250" dirty="0"/>
          </a:p>
        </p:txBody>
      </p:sp>
      <p:sp>
        <p:nvSpPr>
          <p:cNvPr id="10" name="Text 8"/>
          <p:cNvSpPr txBox="1"/>
          <p:nvPr/>
        </p:nvSpPr>
        <p:spPr>
          <a:xfrm>
            <a:off x="10195560" y="2432304"/>
            <a:ext cx="1417320" cy="310896"/>
          </a:xfrm>
          <a:prstGeom prst="roundRect">
            <a:avLst>
              <a:gd name="adj" fmla="val 50000"/>
            </a:avLst>
          </a:prstGeom>
          <a:solidFill>
            <a:srgbClr val="F6E2E2"/>
          </a:solidFill>
          <a:ln/>
        </p:spPr>
        <p:txBody>
          <a:bodyPr wrap="square" lIns="0" tIns="0" rIns="0" bIns="0" rtlCol="0" anchor="ctr"/>
          <a:lstStyle/>
          <a:p>
            <a:pPr algn="ctr" indent="0" marL="0">
              <a:buNone/>
            </a:pPr>
            <a:r>
              <a:rPr lang="en-US" sz="1050" b="1" dirty="0">
                <a:solidFill>
                  <a:srgbClr val="B03030"/>
                </a:solidFill>
                <a:latin typeface="Courier New" pitchFamily="34" charset="0"/>
                <a:ea typeface="Courier New" pitchFamily="34" charset="-122"/>
                <a:cs typeface="Courier New" pitchFamily="34" charset="-120"/>
              </a:rPr>
              <a:t>STOP</a:t>
            </a:r>
            <a:endParaRPr lang="en-US" sz="1050" dirty="0"/>
          </a:p>
        </p:txBody>
      </p:sp>
      <p:sp>
        <p:nvSpPr>
          <p:cNvPr id="11" name="Shape 9"/>
          <p:cNvSpPr/>
          <p:nvPr/>
        </p:nvSpPr>
        <p:spPr>
          <a:xfrm>
            <a:off x="548640" y="3273552"/>
            <a:ext cx="475488" cy="475488"/>
          </a:xfrm>
          <a:prstGeom prst="ellipse">
            <a:avLst/>
          </a:prstGeom>
          <a:solidFill>
            <a:srgbClr val="5B4BC4"/>
          </a:solidFill>
          <a:ln/>
        </p:spPr>
      </p:sp>
      <p:sp>
        <p:nvSpPr>
          <p:cNvPr id="12" name="Text 10"/>
          <p:cNvSpPr txBox="1"/>
          <p:nvPr/>
        </p:nvSpPr>
        <p:spPr>
          <a:xfrm>
            <a:off x="548640" y="327355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1234440" y="3163824"/>
            <a:ext cx="8732520" cy="822960"/>
          </a:xfrm>
          <a:prstGeom prst="rect">
            <a:avLst/>
          </a:prstGeom>
          <a:noFill/>
          <a:ln/>
        </p:spPr>
        <p:txBody>
          <a:bodyPr wrap="square" lIns="0" tIns="0" rIns="0" bIns="0" rtlCol="0" anchor="ctr"/>
          <a:lstStyle/>
          <a:p>
            <a:pPr indent="0" marL="0">
              <a:buNone/>
            </a:pPr>
            <a:r>
              <a:rPr lang="en-US" sz="1250" dirty="0">
                <a:solidFill>
                  <a:srgbClr val="2A2440"/>
                </a:solidFill>
                <a:latin typeface="Calibri" pitchFamily="34" charset="0"/>
                <a:ea typeface="Calibri" pitchFamily="34" charset="-122"/>
                <a:cs typeface="Calibri" pitchFamily="34" charset="-120"/>
              </a:rPr>
              <a:t>The cost claim meets its threshold and still pauses: measured CPU time, assumed wattage, upstream price. Arithmetic is not evidence.</a:t>
            </a:r>
            <a:endParaRPr lang="en-US" sz="1250" dirty="0"/>
          </a:p>
        </p:txBody>
      </p:sp>
      <p:sp>
        <p:nvSpPr>
          <p:cNvPr id="14" name="Text 12"/>
          <p:cNvSpPr txBox="1"/>
          <p:nvPr/>
        </p:nvSpPr>
        <p:spPr>
          <a:xfrm>
            <a:off x="10195560" y="3364992"/>
            <a:ext cx="1417320" cy="310896"/>
          </a:xfrm>
          <a:prstGeom prst="roundRect">
            <a:avLst>
              <a:gd name="adj" fmla="val 50000"/>
            </a:avLst>
          </a:prstGeom>
          <a:solidFill>
            <a:srgbClr val="F5EBD3"/>
          </a:solidFill>
          <a:ln/>
        </p:spPr>
        <p:txBody>
          <a:bodyPr wrap="square" lIns="0" tIns="0" rIns="0" bIns="0" rtlCol="0" anchor="ctr"/>
          <a:lstStyle/>
          <a:p>
            <a:pPr algn="ctr" indent="0" marL="0">
              <a:buNone/>
            </a:pPr>
            <a:r>
              <a:rPr lang="en-US" sz="1050" b="1" dirty="0">
                <a:solidFill>
                  <a:srgbClr val="8A6A15"/>
                </a:solidFill>
                <a:latin typeface="Courier New" pitchFamily="34" charset="0"/>
                <a:ea typeface="Courier New" pitchFamily="34" charset="-122"/>
                <a:cs typeface="Courier New" pitchFamily="34" charset="-120"/>
              </a:rPr>
              <a:t>PAUSE</a:t>
            </a:r>
            <a:endParaRPr lang="en-US" sz="1050" dirty="0"/>
          </a:p>
        </p:txBody>
      </p:sp>
      <p:sp>
        <p:nvSpPr>
          <p:cNvPr id="15" name="Shape 13"/>
          <p:cNvSpPr/>
          <p:nvPr/>
        </p:nvSpPr>
        <p:spPr>
          <a:xfrm>
            <a:off x="548640" y="4206240"/>
            <a:ext cx="475488" cy="475488"/>
          </a:xfrm>
          <a:prstGeom prst="ellipse">
            <a:avLst/>
          </a:prstGeom>
          <a:solidFill>
            <a:srgbClr val="5B4BC4"/>
          </a:solidFill>
          <a:ln/>
        </p:spPr>
      </p:sp>
      <p:sp>
        <p:nvSpPr>
          <p:cNvPr id="16" name="Text 14"/>
          <p:cNvSpPr txBox="1"/>
          <p:nvPr/>
        </p:nvSpPr>
        <p:spPr>
          <a:xfrm>
            <a:off x="548640" y="420624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7" name="Text 15"/>
          <p:cNvSpPr txBox="1"/>
          <p:nvPr/>
        </p:nvSpPr>
        <p:spPr>
          <a:xfrm>
            <a:off x="1234440" y="4096512"/>
            <a:ext cx="8732520" cy="822960"/>
          </a:xfrm>
          <a:prstGeom prst="rect">
            <a:avLst/>
          </a:prstGeom>
          <a:noFill/>
          <a:ln/>
        </p:spPr>
        <p:txBody>
          <a:bodyPr wrap="square" lIns="0" tIns="0" rIns="0" bIns="0" rtlCol="0" anchor="ctr"/>
          <a:lstStyle/>
          <a:p>
            <a:pPr indent="0" marL="0">
              <a:buNone/>
            </a:pPr>
            <a:r>
              <a:rPr lang="en-US" sz="1250" dirty="0">
                <a:solidFill>
                  <a:srgbClr val="2A2440"/>
                </a:solidFill>
                <a:latin typeface="Calibri" pitchFamily="34" charset="0"/>
                <a:ea typeface="Calibri" pitchFamily="34" charset="-122"/>
                <a:cs typeface="Calibri" pitchFamily="34" charset="-120"/>
              </a:rPr>
              <a:t>Edit one digit of the evidence, verify: INVALID, mismatch named. Undo, green.</a:t>
            </a:r>
            <a:endParaRPr lang="en-US" sz="1250" dirty="0"/>
          </a:p>
        </p:txBody>
      </p:sp>
      <p:sp>
        <p:nvSpPr>
          <p:cNvPr id="18" name="Text 16"/>
          <p:cNvSpPr txBox="1"/>
          <p:nvPr/>
        </p:nvSpPr>
        <p:spPr>
          <a:xfrm>
            <a:off x="10195560" y="4297680"/>
            <a:ext cx="1417320" cy="310896"/>
          </a:xfrm>
          <a:prstGeom prst="roundRect">
            <a:avLst>
              <a:gd name="adj" fmla="val 50000"/>
            </a:avLst>
          </a:prstGeom>
          <a:solidFill>
            <a:srgbClr val="F6E2E2"/>
          </a:solidFill>
          <a:ln/>
        </p:spPr>
        <p:txBody>
          <a:bodyPr wrap="square" lIns="0" tIns="0" rIns="0" bIns="0" rtlCol="0" anchor="ctr"/>
          <a:lstStyle/>
          <a:p>
            <a:pPr algn="ctr" indent="0" marL="0">
              <a:buNone/>
            </a:pPr>
            <a:r>
              <a:rPr lang="en-US" sz="1050" b="1" dirty="0">
                <a:solidFill>
                  <a:srgbClr val="B03030"/>
                </a:solidFill>
                <a:latin typeface="Courier New" pitchFamily="34" charset="0"/>
                <a:ea typeface="Courier New" pitchFamily="34" charset="-122"/>
                <a:cs typeface="Courier New" pitchFamily="34" charset="-120"/>
              </a:rPr>
              <a:t>INVALID</a:t>
            </a:r>
            <a:endParaRPr lang="en-US" sz="1050" dirty="0"/>
          </a:p>
        </p:txBody>
      </p:sp>
      <p:sp>
        <p:nvSpPr>
          <p:cNvPr id="19" name="Shape 17"/>
          <p:cNvSpPr/>
          <p:nvPr/>
        </p:nvSpPr>
        <p:spPr>
          <a:xfrm>
            <a:off x="548640" y="5138928"/>
            <a:ext cx="475488" cy="475488"/>
          </a:xfrm>
          <a:prstGeom prst="ellipse">
            <a:avLst/>
          </a:prstGeom>
          <a:solidFill>
            <a:srgbClr val="5B4BC4"/>
          </a:solidFill>
          <a:ln/>
        </p:spPr>
      </p:sp>
      <p:sp>
        <p:nvSpPr>
          <p:cNvPr id="20" name="Text 18"/>
          <p:cNvSpPr txBox="1"/>
          <p:nvPr/>
        </p:nvSpPr>
        <p:spPr>
          <a:xfrm>
            <a:off x="548640" y="5138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1" name="Text 19"/>
          <p:cNvSpPr txBox="1"/>
          <p:nvPr/>
        </p:nvSpPr>
        <p:spPr>
          <a:xfrm>
            <a:off x="1234440" y="5029200"/>
            <a:ext cx="8732520" cy="822960"/>
          </a:xfrm>
          <a:prstGeom prst="rect">
            <a:avLst/>
          </a:prstGeom>
          <a:noFill/>
          <a:ln/>
        </p:spPr>
        <p:txBody>
          <a:bodyPr wrap="square" lIns="0" tIns="0" rIns="0" bIns="0" rtlCol="0" anchor="ctr"/>
          <a:lstStyle/>
          <a:p>
            <a:pPr indent="0" marL="0">
              <a:buNone/>
            </a:pPr>
            <a:r>
              <a:rPr lang="en-US" sz="1250" dirty="0">
                <a:solidFill>
                  <a:srgbClr val="2A2440"/>
                </a:solidFill>
                <a:latin typeface="Calibri" pitchFamily="34" charset="0"/>
                <a:ea typeface="Calibri" pitchFamily="34" charset="-122"/>
                <a:cs typeface="Calibri" pitchFamily="34" charset="-120"/>
              </a:rPr>
              <a:t>Receipt-0007: the one evidenced claim in their table, CLAIM-2, already carries a receipt.</a:t>
            </a:r>
            <a:endParaRPr lang="en-US" sz="1250" dirty="0"/>
          </a:p>
        </p:txBody>
      </p:sp>
      <p:sp>
        <p:nvSpPr>
          <p:cNvPr id="22" name="Text 20"/>
          <p:cNvSpPr txBox="1"/>
          <p:nvPr/>
        </p:nvSpPr>
        <p:spPr>
          <a:xfrm>
            <a:off x="10195560" y="5230368"/>
            <a:ext cx="1417320" cy="310896"/>
          </a:xfrm>
          <a:prstGeom prst="roundRect">
            <a:avLst>
              <a:gd name="adj" fmla="val 50000"/>
            </a:avLst>
          </a:prstGeom>
          <a:solidFill>
            <a:srgbClr val="DFF0E8"/>
          </a:solidFill>
          <a:ln/>
        </p:spPr>
        <p:txBody>
          <a:bodyPr wrap="square" lIns="0" tIns="0" rIns="0" bIns="0" rtlCol="0" anchor="ctr"/>
          <a:lstStyle/>
          <a:p>
            <a:pPr algn="ctr" indent="0" marL="0">
              <a:buNone/>
            </a:pPr>
            <a:r>
              <a:rPr lang="en-US" sz="1050" b="1" dirty="0">
                <a:solidFill>
                  <a:srgbClr val="1E7F5C"/>
                </a:solidFill>
                <a:latin typeface="Courier New" pitchFamily="34" charset="0"/>
                <a:ea typeface="Courier New" pitchFamily="34" charset="-122"/>
                <a:cs typeface="Courier New" pitchFamily="34" charset="-120"/>
              </a:rPr>
              <a:t>PASS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B"/>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85800"/>
          </a:xfrm>
          <a:prstGeom prst="rect">
            <a:avLst/>
          </a:prstGeom>
          <a:noFill/>
          <a:ln/>
        </p:spPr>
        <p:txBody>
          <a:bodyPr wrap="square" lIns="0" tIns="0" rIns="0" bIns="0" rtlCol="0" anchor="ctr"/>
          <a:lstStyle/>
          <a:p>
            <a:pPr indent="0" marL="0">
              <a:buNone/>
            </a:pPr>
            <a:r>
              <a:rPr lang="en-US" sz="3200" b="1" dirty="0">
                <a:solidFill>
                  <a:srgbClr val="2A2440"/>
                </a:solidFill>
                <a:latin typeface="Calibri" pitchFamily="34" charset="0"/>
                <a:ea typeface="Calibri" pitchFamily="34" charset="-122"/>
                <a:cs typeface="Calibri" pitchFamily="34" charset="-120"/>
              </a:rPr>
              <a:t>The missing joint between D2.1, D4.1, and D6.1</a:t>
            </a:r>
            <a:endParaRPr lang="en-US" sz="3200" dirty="0"/>
          </a:p>
        </p:txBody>
      </p:sp>
      <p:sp>
        <p:nvSpPr>
          <p:cNvPr id="3" name="Shape 1"/>
          <p:cNvSpPr/>
          <p:nvPr/>
        </p:nvSpPr>
        <p:spPr>
          <a:xfrm>
            <a:off x="548640" y="1325880"/>
            <a:ext cx="3566160" cy="1600200"/>
          </a:xfrm>
          <a:prstGeom prst="roundRect">
            <a:avLst>
              <a:gd name="adj" fmla="val 5143"/>
            </a:avLst>
          </a:prstGeom>
          <a:solidFill>
            <a:srgbClr val="FFFFFF"/>
          </a:solidFill>
          <a:ln w="9525">
            <a:solidFill>
              <a:srgbClr val="E3DEF2"/>
            </a:solidFill>
            <a:prstDash val="solid"/>
          </a:ln>
          <a:effectLst>
            <a:outerShdw sx="100000" sy="100000" kx="0" ky="0" algn="bl" rotWithShape="0" blurRad="76200" dist="25400" dir="5400000">
              <a:srgbClr val="2A2440">
                <a:alpha val="10000"/>
              </a:srgbClr>
            </a:outerShdw>
          </a:effectLst>
        </p:spPr>
      </p:sp>
      <p:sp>
        <p:nvSpPr>
          <p:cNvPr id="4" name="Text 2"/>
          <p:cNvSpPr txBox="1"/>
          <p:nvPr/>
        </p:nvSpPr>
        <p:spPr>
          <a:xfrm>
            <a:off x="777240" y="1481328"/>
            <a:ext cx="3108960" cy="594360"/>
          </a:xfrm>
          <a:prstGeom prst="rect">
            <a:avLst/>
          </a:prstGeom>
          <a:noFill/>
          <a:ln/>
        </p:spPr>
        <p:txBody>
          <a:bodyPr wrap="square" lIns="0" tIns="0" rIns="0" bIns="0" rtlCol="0" anchor="ctr"/>
          <a:lstStyle/>
          <a:p>
            <a:pPr indent="0" marL="0">
              <a:buNone/>
            </a:pPr>
            <a:r>
              <a:rPr lang="en-US" sz="1400" b="1" dirty="0">
                <a:solidFill>
                  <a:srgbClr val="2A2440"/>
                </a:solidFill>
                <a:latin typeface="Calibri" pitchFamily="34" charset="0"/>
                <a:ea typeface="Calibri" pitchFamily="34" charset="-122"/>
                <a:cs typeface="Calibri" pitchFamily="34" charset="-120"/>
              </a:rPr>
              <a:t>D2.1 Data Operations Manager</a:t>
            </a:r>
            <a:endParaRPr lang="en-US" sz="1400" dirty="0"/>
          </a:p>
        </p:txBody>
      </p:sp>
      <p:sp>
        <p:nvSpPr>
          <p:cNvPr id="5" name="Text 3"/>
          <p:cNvSpPr txBox="1"/>
          <p:nvPr/>
        </p:nvSpPr>
        <p:spPr>
          <a:xfrm>
            <a:off x="777240" y="2103120"/>
            <a:ext cx="3108960" cy="731520"/>
          </a:xfrm>
          <a:prstGeom prst="rect">
            <a:avLst/>
          </a:prstGeom>
          <a:noFill/>
          <a:ln/>
        </p:spPr>
        <p:txBody>
          <a:bodyPr wrap="square" lIns="0" tIns="0" rIns="0" bIns="0" rtlCol="0" anchor="ctr"/>
          <a:lstStyle/>
          <a:p>
            <a:pPr indent="0" marL="0">
              <a:buNone/>
            </a:pPr>
            <a:r>
              <a:rPr lang="en-US" sz="1150" dirty="0">
                <a:solidFill>
                  <a:srgbClr val="6A6480"/>
                </a:solidFill>
                <a:latin typeface="Calibri" pitchFamily="34" charset="0"/>
                <a:ea typeface="Calibri" pitchFamily="34" charset="-122"/>
                <a:cs typeface="Calibri" pitchFamily="34" charset="-120"/>
              </a:rPr>
              <a:t>Lineage: where artifacts came from. No verdicts.</a:t>
            </a:r>
            <a:endParaRPr lang="en-US" sz="1150" dirty="0"/>
          </a:p>
        </p:txBody>
      </p:sp>
      <p:sp>
        <p:nvSpPr>
          <p:cNvPr id="6" name="Shape 4"/>
          <p:cNvSpPr/>
          <p:nvPr/>
        </p:nvSpPr>
        <p:spPr>
          <a:xfrm>
            <a:off x="4370832" y="1325880"/>
            <a:ext cx="3566160" cy="1600200"/>
          </a:xfrm>
          <a:prstGeom prst="roundRect">
            <a:avLst>
              <a:gd name="adj" fmla="val 5143"/>
            </a:avLst>
          </a:prstGeom>
          <a:solidFill>
            <a:srgbClr val="FFFFFF"/>
          </a:solidFill>
          <a:ln w="9525">
            <a:solidFill>
              <a:srgbClr val="E3DEF2"/>
            </a:solidFill>
            <a:prstDash val="solid"/>
          </a:ln>
          <a:effectLst>
            <a:outerShdw sx="100000" sy="100000" kx="0" ky="0" algn="bl" rotWithShape="0" blurRad="76200" dist="25400" dir="5400000">
              <a:srgbClr val="2A2440">
                <a:alpha val="10000"/>
              </a:srgbClr>
            </a:outerShdw>
          </a:effectLst>
        </p:spPr>
      </p:sp>
      <p:sp>
        <p:nvSpPr>
          <p:cNvPr id="7" name="Text 5"/>
          <p:cNvSpPr txBox="1"/>
          <p:nvPr/>
        </p:nvSpPr>
        <p:spPr>
          <a:xfrm>
            <a:off x="4599432" y="1481328"/>
            <a:ext cx="3108960" cy="594360"/>
          </a:xfrm>
          <a:prstGeom prst="rect">
            <a:avLst/>
          </a:prstGeom>
          <a:noFill/>
          <a:ln/>
        </p:spPr>
        <p:txBody>
          <a:bodyPr wrap="square" lIns="0" tIns="0" rIns="0" bIns="0" rtlCol="0" anchor="ctr"/>
          <a:lstStyle/>
          <a:p>
            <a:pPr indent="0" marL="0">
              <a:buNone/>
            </a:pPr>
            <a:r>
              <a:rPr lang="en-US" sz="1400" b="1" dirty="0">
                <a:solidFill>
                  <a:srgbClr val="2A2440"/>
                </a:solidFill>
                <a:latin typeface="Calibri" pitchFamily="34" charset="0"/>
                <a:ea typeface="Calibri" pitchFamily="34" charset="-122"/>
                <a:cs typeface="Calibri" pitchFamily="34" charset="-120"/>
              </a:rPr>
              <a:t>D4.1 Policy Manager</a:t>
            </a:r>
            <a:endParaRPr lang="en-US" sz="1400" dirty="0"/>
          </a:p>
        </p:txBody>
      </p:sp>
      <p:sp>
        <p:nvSpPr>
          <p:cNvPr id="8" name="Text 6"/>
          <p:cNvSpPr txBox="1"/>
          <p:nvPr/>
        </p:nvSpPr>
        <p:spPr>
          <a:xfrm>
            <a:off x="4599432" y="2103120"/>
            <a:ext cx="3108960" cy="731520"/>
          </a:xfrm>
          <a:prstGeom prst="rect">
            <a:avLst/>
          </a:prstGeom>
          <a:noFill/>
          <a:ln/>
        </p:spPr>
        <p:txBody>
          <a:bodyPr wrap="square" lIns="0" tIns="0" rIns="0" bIns="0" rtlCol="0" anchor="ctr"/>
          <a:lstStyle/>
          <a:p>
            <a:pPr indent="0" marL="0">
              <a:buNone/>
            </a:pPr>
            <a:r>
              <a:rPr lang="en-US" sz="1150" dirty="0">
                <a:solidFill>
                  <a:srgbClr val="6A6480"/>
                </a:solidFill>
                <a:latin typeface="Calibri" pitchFamily="34" charset="0"/>
                <a:ea typeface="Calibri" pitchFamily="34" charset="-122"/>
                <a:cs typeface="Calibri" pitchFamily="34" charset="-120"/>
              </a:rPr>
              <a:t>Alerts on policy violations, logged. No claim-verdict artifact.</a:t>
            </a:r>
            <a:endParaRPr lang="en-US" sz="1150" dirty="0"/>
          </a:p>
        </p:txBody>
      </p:sp>
      <p:sp>
        <p:nvSpPr>
          <p:cNvPr id="9" name="Shape 7"/>
          <p:cNvSpPr/>
          <p:nvPr/>
        </p:nvSpPr>
        <p:spPr>
          <a:xfrm>
            <a:off x="8193024" y="1325880"/>
            <a:ext cx="3566160" cy="1600200"/>
          </a:xfrm>
          <a:prstGeom prst="roundRect">
            <a:avLst>
              <a:gd name="adj" fmla="val 5143"/>
            </a:avLst>
          </a:prstGeom>
          <a:solidFill>
            <a:srgbClr val="FFFFFF"/>
          </a:solidFill>
          <a:ln w="9525">
            <a:solidFill>
              <a:srgbClr val="E3DEF2"/>
            </a:solidFill>
            <a:prstDash val="solid"/>
          </a:ln>
          <a:effectLst>
            <a:outerShdw sx="100000" sy="100000" kx="0" ky="0" algn="bl" rotWithShape="0" blurRad="76200" dist="25400" dir="5400000">
              <a:srgbClr val="2A2440">
                <a:alpha val="10000"/>
              </a:srgbClr>
            </a:outerShdw>
          </a:effectLst>
        </p:spPr>
      </p:sp>
      <p:sp>
        <p:nvSpPr>
          <p:cNvPr id="10" name="Text 8"/>
          <p:cNvSpPr txBox="1"/>
          <p:nvPr/>
        </p:nvSpPr>
        <p:spPr>
          <a:xfrm>
            <a:off x="8421624" y="1481328"/>
            <a:ext cx="3108960" cy="594360"/>
          </a:xfrm>
          <a:prstGeom prst="rect">
            <a:avLst/>
          </a:prstGeom>
          <a:noFill/>
          <a:ln/>
        </p:spPr>
        <p:txBody>
          <a:bodyPr wrap="square" lIns="0" tIns="0" rIns="0" bIns="0" rtlCol="0" anchor="ctr"/>
          <a:lstStyle/>
          <a:p>
            <a:pPr indent="0" marL="0">
              <a:buNone/>
            </a:pPr>
            <a:r>
              <a:rPr lang="en-US" sz="1400" b="1" dirty="0">
                <a:solidFill>
                  <a:srgbClr val="2A2440"/>
                </a:solidFill>
                <a:latin typeface="Calibri" pitchFamily="34" charset="0"/>
                <a:ea typeface="Calibri" pitchFamily="34" charset="-122"/>
                <a:cs typeface="Calibri" pitchFamily="34" charset="-120"/>
              </a:rPr>
              <a:t>D6.1 CAE in Z-Inspection®</a:t>
            </a:r>
            <a:endParaRPr lang="en-US" sz="1400" dirty="0"/>
          </a:p>
        </p:txBody>
      </p:sp>
      <p:sp>
        <p:nvSpPr>
          <p:cNvPr id="11" name="Text 9"/>
          <p:cNvSpPr txBox="1"/>
          <p:nvPr/>
        </p:nvSpPr>
        <p:spPr>
          <a:xfrm>
            <a:off x="8421624" y="2103120"/>
            <a:ext cx="3108960" cy="731520"/>
          </a:xfrm>
          <a:prstGeom prst="rect">
            <a:avLst/>
          </a:prstGeom>
          <a:noFill/>
          <a:ln/>
        </p:spPr>
        <p:txBody>
          <a:bodyPr wrap="square" lIns="0" tIns="0" rIns="0" bIns="0" rtlCol="0" anchor="ctr"/>
          <a:lstStyle/>
          <a:p>
            <a:pPr indent="0" marL="0">
              <a:buNone/>
            </a:pPr>
            <a:r>
              <a:rPr lang="en-US" sz="1150" dirty="0">
                <a:solidFill>
                  <a:srgbClr val="6A6480"/>
                </a:solidFill>
                <a:latin typeface="Calibri" pitchFamily="34" charset="0"/>
                <a:ea typeface="Calibri" pitchFamily="34" charset="-122"/>
                <a:cs typeface="Calibri" pitchFamily="34" charset="-120"/>
              </a:rPr>
              <a:t>Claims, arguments, evidence: qualitative and socio-technical.</a:t>
            </a:r>
            <a:endParaRPr lang="en-US" sz="1150" dirty="0"/>
          </a:p>
        </p:txBody>
      </p:sp>
      <p:sp>
        <p:nvSpPr>
          <p:cNvPr id="12" name="Shape 10"/>
          <p:cNvSpPr/>
          <p:nvPr/>
        </p:nvSpPr>
        <p:spPr>
          <a:xfrm>
            <a:off x="6089904" y="3017520"/>
            <a:ext cx="0" cy="502920"/>
          </a:xfrm>
          <a:prstGeom prst="line">
            <a:avLst/>
          </a:prstGeom>
          <a:noFill/>
          <a:ln w="25400">
            <a:solidFill>
              <a:srgbClr val="5B4BC4"/>
            </a:solidFill>
            <a:prstDash val="solid"/>
            <a:tailEnd type="triangle"/>
          </a:ln>
        </p:spPr>
      </p:sp>
      <p:sp>
        <p:nvSpPr>
          <p:cNvPr id="13" name="Shape 11"/>
          <p:cNvSpPr/>
          <p:nvPr/>
        </p:nvSpPr>
        <p:spPr>
          <a:xfrm>
            <a:off x="548640" y="3657600"/>
            <a:ext cx="11091672" cy="1234440"/>
          </a:xfrm>
          <a:prstGeom prst="roundRect">
            <a:avLst>
              <a:gd name="adj" fmla="val 6667"/>
            </a:avLst>
          </a:prstGeom>
          <a:solidFill>
            <a:srgbClr val="E4DFF6"/>
          </a:solidFill>
          <a:ln w="9525">
            <a:solidFill>
              <a:srgbClr val="E3DEF2"/>
            </a:solidFill>
            <a:prstDash val="solid"/>
          </a:ln>
          <a:effectLst>
            <a:outerShdw sx="100000" sy="100000" kx="0" ky="0" algn="bl" rotWithShape="0" blurRad="76200" dist="25400" dir="5400000">
              <a:srgbClr val="2A2440">
                <a:alpha val="10000"/>
              </a:srgbClr>
            </a:outerShdw>
          </a:effectLst>
        </p:spPr>
      </p:sp>
      <p:sp>
        <p:nvSpPr>
          <p:cNvPr id="14" name="Text 12"/>
          <p:cNvSpPr txBox="1"/>
          <p:nvPr/>
        </p:nvSpPr>
        <p:spPr>
          <a:xfrm>
            <a:off x="868680" y="3886200"/>
            <a:ext cx="10424160" cy="822960"/>
          </a:xfrm>
          <a:prstGeom prst="rect">
            <a:avLst/>
          </a:prstGeom>
          <a:noFill/>
          <a:ln/>
        </p:spPr>
        <p:txBody>
          <a:bodyPr wrap="square" lIns="0" tIns="0" rIns="0" bIns="0" rtlCol="0" anchor="ctr"/>
          <a:lstStyle/>
          <a:p>
            <a:pPr indent="0" marL="0">
              <a:buNone/>
            </a:pPr>
            <a:r>
              <a:rPr lang="en-US" sz="1600" b="1" dirty="0">
                <a:solidFill>
                  <a:srgbClr val="2A2440"/>
                </a:solidFill>
                <a:latin typeface="Calibri" pitchFamily="34" charset="0"/>
                <a:ea typeface="Calibri" pitchFamily="34" charset="-122"/>
                <a:cs typeface="Calibri" pitchFamily="34" charset="-120"/>
              </a:rPr>
              <a:t>The TRACE receipt binds claim + threshold + measured value + evidence digest, signed, chained, replayable by anyone from the repo.</a:t>
            </a:r>
            <a:endParaRPr lang="en-US" sz="1600" dirty="0"/>
          </a:p>
        </p:txBody>
      </p:sp>
      <p:sp>
        <p:nvSpPr>
          <p:cNvPr id="15" name="Text 13"/>
          <p:cNvSpPr txBox="1"/>
          <p:nvPr/>
        </p:nvSpPr>
        <p:spPr>
          <a:xfrm>
            <a:off x="548640" y="5257800"/>
            <a:ext cx="11091672" cy="640080"/>
          </a:xfrm>
          <a:prstGeom prst="rect">
            <a:avLst/>
          </a:prstGeom>
          <a:noFill/>
          <a:ln/>
        </p:spPr>
        <p:txBody>
          <a:bodyPr wrap="square" lIns="0" tIns="0" rIns="0" bIns="0" rtlCol="0" anchor="ctr"/>
          <a:lstStyle/>
          <a:p>
            <a:pPr indent="0" marL="0">
              <a:buNone/>
            </a:pPr>
            <a:r>
              <a:rPr lang="en-US" sz="1150" dirty="0">
                <a:solidFill>
                  <a:srgbClr val="6A6480"/>
                </a:solidFill>
                <a:latin typeface="Calibri" pitchFamily="34" charset="0"/>
                <a:ea typeface="Calibri" pitchFamily="34" charset="-122"/>
                <a:cs typeface="Calibri" pitchFamily="34" charset="-120"/>
              </a:rPr>
              <a:t>Every ingredient exists (Ed25519, hash chains, attestation: in-toto and Sigstore territory); the contribution is the claim contract binding threshold, accepted origins, verdict, and disposition into one replayable artifact · MANOLO-shaped, never claimed compatible · no claim-verdict artifacts in the nine reviewed deliverables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B"/>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85800"/>
          </a:xfrm>
          <a:prstGeom prst="rect">
            <a:avLst/>
          </a:prstGeom>
          <a:noFill/>
          <a:ln/>
        </p:spPr>
        <p:txBody>
          <a:bodyPr wrap="square" lIns="0" tIns="0" rIns="0" bIns="0" rtlCol="0" anchor="ctr"/>
          <a:lstStyle/>
          <a:p>
            <a:pPr indent="0" marL="0">
              <a:buNone/>
            </a:pPr>
            <a:r>
              <a:rPr lang="en-US" sz="3200" b="1" dirty="0">
                <a:solidFill>
                  <a:srgbClr val="2A2440"/>
                </a:solidFill>
                <a:latin typeface="Calibri" pitchFamily="34" charset="0"/>
                <a:ea typeface="Calibri" pitchFamily="34" charset="-122"/>
                <a:cs typeface="Calibri" pitchFamily="34" charset="-120"/>
              </a:rPr>
              <a:t>We score ourselves REVIEW where we are REVIEW</a:t>
            </a:r>
            <a:endParaRPr lang="en-US" sz="3200" dirty="0"/>
          </a:p>
        </p:txBody>
      </p:sp>
      <p:sp>
        <p:nvSpPr>
          <p:cNvPr id="3" name="Text 1"/>
          <p:cNvSpPr txBox="1"/>
          <p:nvPr/>
        </p:nvSpPr>
        <p:spPr>
          <a:xfrm>
            <a:off x="548640" y="1463040"/>
            <a:ext cx="1234440" cy="310896"/>
          </a:xfrm>
          <a:prstGeom prst="roundRect">
            <a:avLst>
              <a:gd name="adj" fmla="val 50000"/>
            </a:avLst>
          </a:prstGeom>
          <a:solidFill>
            <a:srgbClr val="F5EBD3"/>
          </a:solidFill>
          <a:ln/>
        </p:spPr>
        <p:txBody>
          <a:bodyPr wrap="square" lIns="0" tIns="0" rIns="0" bIns="0" rtlCol="0" anchor="ctr"/>
          <a:lstStyle/>
          <a:p>
            <a:pPr algn="ctr" indent="0" marL="0">
              <a:buNone/>
            </a:pPr>
            <a:r>
              <a:rPr lang="en-US" sz="1050" b="1" dirty="0">
                <a:solidFill>
                  <a:srgbClr val="8A6A15"/>
                </a:solidFill>
                <a:latin typeface="Courier New" pitchFamily="34" charset="0"/>
                <a:ea typeface="Courier New" pitchFamily="34" charset="-122"/>
                <a:cs typeface="Courier New" pitchFamily="34" charset="-120"/>
              </a:rPr>
              <a:t>REVIEW</a:t>
            </a:r>
            <a:endParaRPr lang="en-US" sz="1050" dirty="0"/>
          </a:p>
        </p:txBody>
      </p:sp>
      <p:sp>
        <p:nvSpPr>
          <p:cNvPr id="4" name="Text 2"/>
          <p:cNvSpPr txBox="1"/>
          <p:nvPr/>
        </p:nvSpPr>
        <p:spPr>
          <a:xfrm>
            <a:off x="2011680" y="1371600"/>
            <a:ext cx="9601200" cy="731520"/>
          </a:xfrm>
          <a:prstGeom prst="rect">
            <a:avLst/>
          </a:prstGeom>
          <a:noFill/>
          <a:ln/>
        </p:spPr>
        <p:txBody>
          <a:bodyPr wrap="square" lIns="0" tIns="0" rIns="0" bIns="0" rtlCol="0" anchor="ctr"/>
          <a:lstStyle/>
          <a:p>
            <a:pPr indent="0" marL="0">
              <a:buNone/>
            </a:pPr>
            <a:r>
              <a:rPr lang="en-US" sz="1300" dirty="0">
                <a:solidFill>
                  <a:srgbClr val="2A2440"/>
                </a:solidFill>
                <a:latin typeface="Calibri" pitchFamily="34" charset="0"/>
                <a:ea typeface="Calibri" pitchFamily="34" charset="-122"/>
                <a:cs typeface="Calibri" pitchFamily="34" charset="-120"/>
              </a:rPr>
              <a:t>Energy is not metered in joules. Our own claim MB-ENE-01 fails on us, on purpose.</a:t>
            </a:r>
            <a:endParaRPr lang="en-US" sz="1300" dirty="0"/>
          </a:p>
        </p:txBody>
      </p:sp>
      <p:sp>
        <p:nvSpPr>
          <p:cNvPr id="5" name="Text 3"/>
          <p:cNvSpPr txBox="1"/>
          <p:nvPr/>
        </p:nvSpPr>
        <p:spPr>
          <a:xfrm>
            <a:off x="548640" y="2304288"/>
            <a:ext cx="1234440" cy="310896"/>
          </a:xfrm>
          <a:prstGeom prst="roundRect">
            <a:avLst>
              <a:gd name="adj" fmla="val 50000"/>
            </a:avLst>
          </a:prstGeom>
          <a:solidFill>
            <a:srgbClr val="F5EBD3"/>
          </a:solidFill>
          <a:ln/>
        </p:spPr>
        <p:txBody>
          <a:bodyPr wrap="square" lIns="0" tIns="0" rIns="0" bIns="0" rtlCol="0" anchor="ctr"/>
          <a:lstStyle/>
          <a:p>
            <a:pPr algn="ctr" indent="0" marL="0">
              <a:buNone/>
            </a:pPr>
            <a:r>
              <a:rPr lang="en-US" sz="1050" b="1" dirty="0">
                <a:solidFill>
                  <a:srgbClr val="8A6A15"/>
                </a:solidFill>
                <a:latin typeface="Courier New" pitchFamily="34" charset="0"/>
                <a:ea typeface="Courier New" pitchFamily="34" charset="-122"/>
                <a:cs typeface="Courier New" pitchFamily="34" charset="-120"/>
              </a:rPr>
              <a:t>REVIEW</a:t>
            </a:r>
            <a:endParaRPr lang="en-US" sz="1050" dirty="0"/>
          </a:p>
        </p:txBody>
      </p:sp>
      <p:sp>
        <p:nvSpPr>
          <p:cNvPr id="6" name="Text 4"/>
          <p:cNvSpPr txBox="1"/>
          <p:nvPr/>
        </p:nvSpPr>
        <p:spPr>
          <a:xfrm>
            <a:off x="2011680" y="2212848"/>
            <a:ext cx="9601200" cy="731520"/>
          </a:xfrm>
          <a:prstGeom prst="rect">
            <a:avLst/>
          </a:prstGeom>
          <a:noFill/>
          <a:ln/>
        </p:spPr>
        <p:txBody>
          <a:bodyPr wrap="square" lIns="0" tIns="0" rIns="0" bIns="0" rtlCol="0" anchor="ctr"/>
          <a:lstStyle/>
          <a:p>
            <a:pPr indent="0" marL="0">
              <a:buNone/>
            </a:pPr>
            <a:r>
              <a:rPr lang="en-US" sz="1300" dirty="0">
                <a:solidFill>
                  <a:srgbClr val="2A2440"/>
                </a:solidFill>
                <a:latin typeface="Calibri" pitchFamily="34" charset="0"/>
                <a:ea typeface="Calibri" pitchFamily="34" charset="-122"/>
                <a:cs typeface="Calibri" pitchFamily="34" charset="-120"/>
              </a:rPr>
              <a:t>Single local keypair, no PKI. Tamper-evident, not tamper-proof: the head hash goes public at session start.</a:t>
            </a:r>
            <a:endParaRPr lang="en-US" sz="1300" dirty="0"/>
          </a:p>
        </p:txBody>
      </p:sp>
      <p:sp>
        <p:nvSpPr>
          <p:cNvPr id="7" name="Text 5"/>
          <p:cNvSpPr txBox="1"/>
          <p:nvPr/>
        </p:nvSpPr>
        <p:spPr>
          <a:xfrm>
            <a:off x="548640" y="3145536"/>
            <a:ext cx="1234440" cy="310896"/>
          </a:xfrm>
          <a:prstGeom prst="roundRect">
            <a:avLst>
              <a:gd name="adj" fmla="val 50000"/>
            </a:avLst>
          </a:prstGeom>
          <a:solidFill>
            <a:srgbClr val="F5EBD3"/>
          </a:solidFill>
          <a:ln/>
        </p:spPr>
        <p:txBody>
          <a:bodyPr wrap="square" lIns="0" tIns="0" rIns="0" bIns="0" rtlCol="0" anchor="ctr"/>
          <a:lstStyle/>
          <a:p>
            <a:pPr algn="ctr" indent="0" marL="0">
              <a:buNone/>
            </a:pPr>
            <a:r>
              <a:rPr lang="en-US" sz="1050" b="1" dirty="0">
                <a:solidFill>
                  <a:srgbClr val="8A6A15"/>
                </a:solidFill>
                <a:latin typeface="Courier New" pitchFamily="34" charset="0"/>
                <a:ea typeface="Courier New" pitchFamily="34" charset="-122"/>
                <a:cs typeface="Courier New" pitchFamily="34" charset="-120"/>
              </a:rPr>
              <a:t>REVIEW</a:t>
            </a:r>
            <a:endParaRPr lang="en-US" sz="1050" dirty="0"/>
          </a:p>
        </p:txBody>
      </p:sp>
      <p:sp>
        <p:nvSpPr>
          <p:cNvPr id="8" name="Text 6"/>
          <p:cNvSpPr txBox="1"/>
          <p:nvPr/>
        </p:nvSpPr>
        <p:spPr>
          <a:xfrm>
            <a:off x="2011680" y="3054096"/>
            <a:ext cx="9601200" cy="731520"/>
          </a:xfrm>
          <a:prstGeom prst="rect">
            <a:avLst/>
          </a:prstGeom>
          <a:noFill/>
          <a:ln/>
        </p:spPr>
        <p:txBody>
          <a:bodyPr wrap="square" lIns="0" tIns="0" rIns="0" bIns="0" rtlCol="0" anchor="ctr"/>
          <a:lstStyle/>
          <a:p>
            <a:pPr indent="0" marL="0">
              <a:buNone/>
            </a:pPr>
            <a:r>
              <a:rPr lang="en-US" sz="1300" dirty="0">
                <a:solidFill>
                  <a:srgbClr val="2A2440"/>
                </a:solidFill>
                <a:latin typeface="Calibri" pitchFamily="34" charset="0"/>
                <a:ea typeface="Calibri" pitchFamily="34" charset="-122"/>
                <a:cs typeface="Calibri" pitchFamily="34" charset="-120"/>
              </a:rPr>
              <a:t>Origin labels are declared, not proven. The gate enforces the declared policy, it cannot detect a mislabeled origin.</a:t>
            </a:r>
            <a:endParaRPr lang="en-US" sz="1300" dirty="0"/>
          </a:p>
        </p:txBody>
      </p:sp>
      <p:sp>
        <p:nvSpPr>
          <p:cNvPr id="9" name="Text 7"/>
          <p:cNvSpPr txBox="1"/>
          <p:nvPr/>
        </p:nvSpPr>
        <p:spPr>
          <a:xfrm>
            <a:off x="548640" y="3986784"/>
            <a:ext cx="1234440" cy="310896"/>
          </a:xfrm>
          <a:prstGeom prst="roundRect">
            <a:avLst>
              <a:gd name="adj" fmla="val 50000"/>
            </a:avLst>
          </a:prstGeom>
          <a:solidFill>
            <a:srgbClr val="F5EBD3"/>
          </a:solidFill>
          <a:ln/>
        </p:spPr>
        <p:txBody>
          <a:bodyPr wrap="square" lIns="0" tIns="0" rIns="0" bIns="0" rtlCol="0" anchor="ctr"/>
          <a:lstStyle/>
          <a:p>
            <a:pPr algn="ctr" indent="0" marL="0">
              <a:buNone/>
            </a:pPr>
            <a:r>
              <a:rPr lang="en-US" sz="1050" b="1" dirty="0">
                <a:solidFill>
                  <a:srgbClr val="8A6A15"/>
                </a:solidFill>
                <a:latin typeface="Courier New" pitchFamily="34" charset="0"/>
                <a:ea typeface="Courier New" pitchFamily="34" charset="-122"/>
                <a:cs typeface="Courier New" pitchFamily="34" charset="-120"/>
              </a:rPr>
              <a:t>REVIEW</a:t>
            </a:r>
            <a:endParaRPr lang="en-US" sz="1050" dirty="0"/>
          </a:p>
        </p:txBody>
      </p:sp>
      <p:sp>
        <p:nvSpPr>
          <p:cNvPr id="10" name="Text 8"/>
          <p:cNvSpPr txBox="1"/>
          <p:nvPr/>
        </p:nvSpPr>
        <p:spPr>
          <a:xfrm>
            <a:off x="2011680" y="3895344"/>
            <a:ext cx="9601200" cy="731520"/>
          </a:xfrm>
          <a:prstGeom prst="rect">
            <a:avLst/>
          </a:prstGeom>
          <a:noFill/>
          <a:ln/>
        </p:spPr>
        <p:txBody>
          <a:bodyPr wrap="square" lIns="0" tIns="0" rIns="0" bIns="0" rtlCol="0" anchor="ctr"/>
          <a:lstStyle/>
          <a:p>
            <a:pPr indent="0" marL="0">
              <a:buNone/>
            </a:pPr>
            <a:r>
              <a:rPr lang="en-US" sz="1300" dirty="0">
                <a:solidFill>
                  <a:srgbClr val="2A2440"/>
                </a:solidFill>
                <a:latin typeface="Calibri" pitchFamily="34" charset="0"/>
                <a:ea typeface="Calibri" pitchFamily="34" charset="-122"/>
                <a:cs typeface="Calibri" pitchFamily="34" charset="-120"/>
              </a:rPr>
              <a:t>Synthetic seeded corpus. Recall on real embedding distributions will differ.</a:t>
            </a:r>
            <a:endParaRPr lang="en-US" sz="1300" dirty="0"/>
          </a:p>
        </p:txBody>
      </p:sp>
      <p:sp>
        <p:nvSpPr>
          <p:cNvPr id="11" name="Text 9"/>
          <p:cNvSpPr txBox="1"/>
          <p:nvPr/>
        </p:nvSpPr>
        <p:spPr>
          <a:xfrm>
            <a:off x="548640" y="4828032"/>
            <a:ext cx="1234440" cy="310896"/>
          </a:xfrm>
          <a:prstGeom prst="roundRect">
            <a:avLst>
              <a:gd name="adj" fmla="val 50000"/>
            </a:avLst>
          </a:prstGeom>
          <a:solidFill>
            <a:srgbClr val="F5EBD3"/>
          </a:solidFill>
          <a:ln/>
        </p:spPr>
        <p:txBody>
          <a:bodyPr wrap="square" lIns="0" tIns="0" rIns="0" bIns="0" rtlCol="0" anchor="ctr"/>
          <a:lstStyle/>
          <a:p>
            <a:pPr algn="ctr" indent="0" marL="0">
              <a:buNone/>
            </a:pPr>
            <a:r>
              <a:rPr lang="en-US" sz="1050" b="1" dirty="0">
                <a:solidFill>
                  <a:srgbClr val="8A6A15"/>
                </a:solidFill>
                <a:latin typeface="Courier New" pitchFamily="34" charset="0"/>
                <a:ea typeface="Courier New" pitchFamily="34" charset="-122"/>
                <a:cs typeface="Courier New" pitchFamily="34" charset="-120"/>
              </a:rPr>
              <a:t>REVIEW</a:t>
            </a:r>
            <a:endParaRPr lang="en-US" sz="1050" dirty="0"/>
          </a:p>
        </p:txBody>
      </p:sp>
      <p:sp>
        <p:nvSpPr>
          <p:cNvPr id="12" name="Text 10"/>
          <p:cNvSpPr txBox="1"/>
          <p:nvPr/>
        </p:nvSpPr>
        <p:spPr>
          <a:xfrm>
            <a:off x="2011680" y="4736592"/>
            <a:ext cx="9601200" cy="731520"/>
          </a:xfrm>
          <a:prstGeom prst="rect">
            <a:avLst/>
          </a:prstGeom>
          <a:noFill/>
          <a:ln/>
        </p:spPr>
        <p:txBody>
          <a:bodyPr wrap="square" lIns="0" tIns="0" rIns="0" bIns="0" rtlCol="0" anchor="ctr"/>
          <a:lstStyle/>
          <a:p>
            <a:pPr indent="0" marL="0">
              <a:buNone/>
            </a:pPr>
            <a:r>
              <a:rPr lang="en-US" sz="1300" dirty="0">
                <a:solidFill>
                  <a:srgbClr val="2A2440"/>
                </a:solidFill>
                <a:latin typeface="Calibri" pitchFamily="34" charset="0"/>
                <a:ea typeface="Calibri" pitchFamily="34" charset="-122"/>
                <a:cs typeface="Calibri" pitchFamily="34" charset="-120"/>
              </a:rPr>
              <a:t>Claims here are about our own system, until the use-case owners declare theirs.</a:t>
            </a:r>
            <a:endParaRPr lang="en-US" sz="1300" dirty="0"/>
          </a:p>
        </p:txBody>
      </p:sp>
      <p:sp>
        <p:nvSpPr>
          <p:cNvPr id="13" name="Text 11"/>
          <p:cNvSpPr txBox="1"/>
          <p:nvPr/>
        </p:nvSpPr>
        <p:spPr>
          <a:xfrm>
            <a:off x="548640" y="5806440"/>
            <a:ext cx="11064240" cy="365760"/>
          </a:xfrm>
          <a:prstGeom prst="rect">
            <a:avLst/>
          </a:prstGeom>
          <a:noFill/>
          <a:ln/>
        </p:spPr>
        <p:txBody>
          <a:bodyPr wrap="square" lIns="0" tIns="0" rIns="0" bIns="0" rtlCol="0" anchor="ctr"/>
          <a:lstStyle/>
          <a:p>
            <a:pPr indent="0" marL="0">
              <a:buNone/>
            </a:pPr>
            <a:r>
              <a:rPr lang="en-US" sz="1150" dirty="0">
                <a:solidFill>
                  <a:srgbClr val="6A6480"/>
                </a:solidFill>
                <a:latin typeface="Courier New" pitchFamily="34" charset="0"/>
                <a:ea typeface="Courier New" pitchFamily="34" charset="-122"/>
                <a:cs typeface="Courier New" pitchFamily="34" charset="-120"/>
              </a:rPr>
              <a:t>Apache-2.0 · zero-dependency core · the adversarial suite ships in the repo</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41E38"/>
        </a:solidFill>
      </p:bgPr>
    </p:bg>
    <p:spTree>
      <p:nvGrpSpPr>
        <p:cNvPr id="1" name=""/>
        <p:cNvGrpSpPr/>
        <p:nvPr/>
      </p:nvGrpSpPr>
      <p:grpSpPr>
        <a:xfrm>
          <a:off x="0" y="0"/>
          <a:ext cx="0" cy="0"/>
          <a:chOff x="0" y="0"/>
          <a:chExt cx="0" cy="0"/>
        </a:xfrm>
      </p:grpSpPr>
      <p:sp>
        <p:nvSpPr>
          <p:cNvPr id="2" name="Text 0"/>
          <p:cNvSpPr txBox="1"/>
          <p:nvPr/>
        </p:nvSpPr>
        <p:spPr>
          <a:xfrm>
            <a:off x="822960" y="1737360"/>
            <a:ext cx="10515600" cy="82296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Pilot it on one WP5 claim table</a:t>
            </a:r>
            <a:endParaRPr lang="en-US" sz="3400" dirty="0"/>
          </a:p>
        </p:txBody>
      </p:sp>
      <p:sp>
        <p:nvSpPr>
          <p:cNvPr id="3" name="Text 1"/>
          <p:cNvSpPr txBox="1"/>
          <p:nvPr/>
        </p:nvSpPr>
        <p:spPr>
          <a:xfrm>
            <a:off x="822960" y="2743200"/>
            <a:ext cx="10058400" cy="731520"/>
          </a:xfrm>
          <a:prstGeom prst="rect">
            <a:avLst/>
          </a:prstGeom>
          <a:noFill/>
          <a:ln/>
        </p:spPr>
        <p:txBody>
          <a:bodyPr wrap="square" lIns="0" tIns="0" rIns="0" bIns="0" rtlCol="0" anchor="ctr"/>
          <a:lstStyle/>
          <a:p>
            <a:pPr indent="0" marL="0">
              <a:buNone/>
            </a:pPr>
            <a:r>
              <a:rPr lang="en-US" sz="1600" dirty="0">
                <a:solidFill>
                  <a:srgbClr val="CDC5EE"/>
                </a:solidFill>
                <a:latin typeface="Calibri" pitchFamily="34" charset="0"/>
                <a:ea typeface="Calibri" pitchFamily="34" charset="-122"/>
                <a:cs typeface="Calibri" pitchFamily="34" charset="-120"/>
              </a:rPr>
              <a:t>Thirty minutes with WP5: point the contract at the Table 7 claims, the use-case owners declare the thresholds, the receipts recompute.</a:t>
            </a:r>
            <a:endParaRPr lang="en-US" sz="1600" dirty="0"/>
          </a:p>
        </p:txBody>
      </p:sp>
      <p:sp>
        <p:nvSpPr>
          <p:cNvPr id="4" name="Text 2"/>
          <p:cNvSpPr txBox="1"/>
          <p:nvPr/>
        </p:nvSpPr>
        <p:spPr>
          <a:xfrm>
            <a:off x="822960" y="3611880"/>
            <a:ext cx="100584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Trust in the loop needs evidence in the loop.</a:t>
            </a:r>
            <a:endParaRPr lang="en-US" sz="1600" dirty="0"/>
          </a:p>
        </p:txBody>
      </p:sp>
      <p:sp>
        <p:nvSpPr>
          <p:cNvPr id="5" name="Text 3"/>
          <p:cNvSpPr txBox="1"/>
          <p:nvPr/>
        </p:nvSpPr>
        <p:spPr>
          <a:xfrm>
            <a:off x="822960" y="4343400"/>
            <a:ext cx="10058400" cy="411480"/>
          </a:xfrm>
          <a:prstGeom prst="rect">
            <a:avLst/>
          </a:prstGeom>
          <a:noFill/>
          <a:ln/>
        </p:spPr>
        <p:txBody>
          <a:bodyPr wrap="square" lIns="0" tIns="0" rIns="0" bIns="0" rtlCol="0" anchor="ctr"/>
          <a:lstStyle/>
          <a:p>
            <a:pPr indent="0" marL="0">
              <a:buNone/>
            </a:pPr>
            <a:r>
              <a:rPr lang="en-US" sz="1300" dirty="0">
                <a:solidFill>
                  <a:srgbClr val="CDC5EE"/>
                </a:solidFill>
                <a:latin typeface="Courier New" pitchFamily="34" charset="0"/>
                <a:ea typeface="Courier New" pitchFamily="34" charset="-122"/>
                <a:cs typeface="Courier New" pitchFamily="34" charset="-120"/>
              </a:rPr>
              <a:t>github.com/adambkovacs/manolo-innovation-lab-bench · Apache-2.0 · every verdict replays from the repo</a:t>
            </a:r>
            <a:endParaRPr lang="en-US" sz="1300" dirty="0"/>
          </a:p>
        </p:txBody>
      </p:sp>
      <p:sp>
        <p:nvSpPr>
          <p:cNvPr id="6" name="Text 4"/>
          <p:cNvSpPr txBox="1"/>
          <p:nvPr/>
        </p:nvSpPr>
        <p:spPr>
          <a:xfrm>
            <a:off x="822960" y="5166360"/>
            <a:ext cx="1143000" cy="310896"/>
          </a:xfrm>
          <a:prstGeom prst="roundRect">
            <a:avLst>
              <a:gd name="adj" fmla="val 50000"/>
            </a:avLst>
          </a:prstGeom>
          <a:solidFill>
            <a:srgbClr val="DFF0E8"/>
          </a:solidFill>
          <a:ln/>
        </p:spPr>
        <p:txBody>
          <a:bodyPr wrap="square" lIns="0" tIns="0" rIns="0" bIns="0" rtlCol="0" anchor="ctr"/>
          <a:lstStyle/>
          <a:p>
            <a:pPr algn="ctr" indent="0" marL="0">
              <a:buNone/>
            </a:pPr>
            <a:r>
              <a:rPr lang="en-US" sz="1050" b="1" dirty="0">
                <a:solidFill>
                  <a:srgbClr val="1E7F5C"/>
                </a:solidFill>
                <a:latin typeface="Courier New" pitchFamily="34" charset="0"/>
                <a:ea typeface="Courier New" pitchFamily="34" charset="-122"/>
                <a:cs typeface="Courier New" pitchFamily="34" charset="-120"/>
              </a:rPr>
              <a:t>PASS</a:t>
            </a:r>
            <a:endParaRPr lang="en-US" sz="1050" dirty="0"/>
          </a:p>
        </p:txBody>
      </p:sp>
      <p:sp>
        <p:nvSpPr>
          <p:cNvPr id="7" name="Text 5"/>
          <p:cNvSpPr txBox="1"/>
          <p:nvPr/>
        </p:nvSpPr>
        <p:spPr>
          <a:xfrm>
            <a:off x="2103120" y="5166360"/>
            <a:ext cx="1371600" cy="310896"/>
          </a:xfrm>
          <a:prstGeom prst="roundRect">
            <a:avLst>
              <a:gd name="adj" fmla="val 50000"/>
            </a:avLst>
          </a:prstGeom>
          <a:solidFill>
            <a:srgbClr val="DFF0E8"/>
          </a:solidFill>
          <a:ln/>
        </p:spPr>
        <p:txBody>
          <a:bodyPr wrap="square" lIns="0" tIns="0" rIns="0" bIns="0" rtlCol="0" anchor="ctr"/>
          <a:lstStyle/>
          <a:p>
            <a:pPr algn="ctr" indent="0" marL="0">
              <a:buNone/>
            </a:pPr>
            <a:r>
              <a:rPr lang="en-US" sz="1050" b="1" dirty="0">
                <a:solidFill>
                  <a:srgbClr val="1E7F5C"/>
                </a:solidFill>
                <a:latin typeface="Courier New" pitchFamily="34" charset="0"/>
                <a:ea typeface="Courier New" pitchFamily="34" charset="-122"/>
                <a:cs typeface="Courier New" pitchFamily="34" charset="-120"/>
              </a:rPr>
              <a:t>CONTINUE</a:t>
            </a:r>
            <a:endParaRPr lang="en-US" sz="1050" dirty="0"/>
          </a:p>
        </p:txBody>
      </p:sp>
      <p:sp>
        <p:nvSpPr>
          <p:cNvPr id="8" name="Text 6"/>
          <p:cNvSpPr txBox="1"/>
          <p:nvPr/>
        </p:nvSpPr>
        <p:spPr>
          <a:xfrm>
            <a:off x="3611880" y="5166360"/>
            <a:ext cx="1143000" cy="310896"/>
          </a:xfrm>
          <a:prstGeom prst="roundRect">
            <a:avLst>
              <a:gd name="adj" fmla="val 50000"/>
            </a:avLst>
          </a:prstGeom>
          <a:solidFill>
            <a:srgbClr val="E4DFF6"/>
          </a:solidFill>
          <a:ln/>
        </p:spPr>
        <p:txBody>
          <a:bodyPr wrap="square" lIns="0" tIns="0" rIns="0" bIns="0" rtlCol="0" anchor="ctr"/>
          <a:lstStyle/>
          <a:p>
            <a:pPr algn="ctr" indent="0" marL="0">
              <a:buNone/>
            </a:pPr>
            <a:r>
              <a:rPr lang="en-US" sz="1050" b="1" dirty="0">
                <a:solidFill>
                  <a:srgbClr val="5B4BC4"/>
                </a:solidFill>
                <a:latin typeface="Courier New" pitchFamily="34" charset="0"/>
                <a:ea typeface="Courier New" pitchFamily="34" charset="-122"/>
                <a:cs typeface="Courier New" pitchFamily="34" charset="-120"/>
              </a:rPr>
              <a:t>SIGNED</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2026-08-28T07:48:00Z</dcterms:created>
  <dcterms:modified xsi:type="dcterms:W3CDTF">2026-08-28T07:48:00Z</dcterms:modified>
</cp:coreProperties>
</file>