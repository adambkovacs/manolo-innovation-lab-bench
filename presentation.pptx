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A6480"/>
                </a:solidFill>
                <a:latin typeface="Calibri"/>
              </a:defRPr>
            </a:pPr>
            <a:r>
              <a:rPr sz="1100" b="0" i="0" u="none" strike="noStrike">
                <a:solidFill>
                  <a:srgbClr val="6A6480"/>
                </a:solidFill>
                <a:latin typeface="Calibri"/>
              </a:rPr>
              <a:t>Query latency, p50 ms (seed 42, N=5000, D=256)</a:t>
            </a:r>
          </a:p>
        </c:rich>
      </c:tx>
      <c:layout/>
      <c:overlay val="0"/>
    </c:title>
    <c:autoTitleDeleted val="0"/>
    <c:plotArea>
      <c:layout/>
      <c:barChart>
        <c:barDir val="col"/>
        <c:grouping val="clustered"/>
        <c:varyColors val="0"/>
        <c:ser>
          <c:idx val="0"/>
          <c:order val="0"/>
          <c:tx>
            <c:strRef>
              <c:f>Sheet1!$B$1</c:f>
              <c:strCache>
                <c:ptCount val="1"/>
                <c:pt idx="0">
                  <c:v>p50 latency (ms)</c:v>
                </c:pt>
              </c:strCache>
            </c:strRef>
          </c:tx>
          <c:spPr>
            <a:solidFill>
              <a:srgbClr val="CDC5EE"/>
            </a:solidFill>
            <a:effectLst/>
          </c:spPr>
          <c:invertIfNegative val="0"/>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CDC5EE"/>
              </a:solidFill>
              <a:effectLst/>
            </c:spPr>
          </c:dPt>
          <c:dPt>
            <c:idx val="1"/>
            <c:invertIfNegative val="0"/>
            <c:bubble3D val="0"/>
            <c:spPr>
              <a:solidFill>
                <a:srgbClr val="9A8CE0"/>
              </a:solidFill>
              <a:effectLst/>
            </c:spPr>
          </c:dPt>
          <c:dPt>
            <c:idx val="2"/>
            <c:invertIfNegative val="0"/>
            <c:bubble3D val="0"/>
            <c:spPr>
              <a:solidFill>
                <a:srgbClr val="5B4BC4"/>
              </a:solidFill>
              <a:effectLst/>
            </c:spPr>
          </c:dPt>
          <c:cat>
            <c:multiLvlStrRef>
              <c:f>Sheet1!$A$2:$A$4</c:f>
              <c:multiLvlStrCache>
                <c:ptCount val="3"/>
                <c:lvl>
                  <c:pt idx="0">
                    <c:v>fp32 exact</c:v>
                  </c:pt>
                  <c:pt idx="1">
                    <c:v>int8 quantized</c:v>
                  </c:pt>
                  <c:pt idx="2">
                    <c:v>RuVector HNSW</c:v>
                  </c:pt>
                </c:lvl>
              </c:multiLvlStrCache>
            </c:multiLvlStrRef>
          </c:cat>
          <c:val>
            <c:numRef>
              <c:f>Sheet1!$B$2:$B$4</c:f>
              <c:numCache>
                <c:formatCode>General</c:formatCode>
                <c:ptCount val="3"/>
                <c:pt idx="0">
                  <c:v>3.66</c:v>
                </c:pt>
                <c:pt idx="1">
                  <c:v>3.38</c:v>
                </c:pt>
                <c:pt idx="2">
                  <c:v>1.076</c:v>
                </c:pt>
              </c:numCache>
            </c:numRef>
          </c:val>
        </c:ser>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24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DE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4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pre-work transparency using the tool itself: the ledger timestamps show what predates the session and what was built inside it. Write the receipt head hash on the whiteboard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early: the subject is the framework assessment loop. The published table is the worked example, and the use case behind it is one of several, never the target. The deliverable documented this gap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three live outcomes in the demo: CONTINUE, PAUSE, STOP. Keep the state machine simple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after the hour-1 rerun, update the three bar values and the recall numbers with the live run. State the runtime caveat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rerun bench and evaluate live in hour 1 so these carry in-session timestamps. Commands: node src/baseline.js fixtures/claims-upstream.json, then evaluate the same fixture, then claims-place-gr and -se, then the tamper beat. Rehearse to 20 seconds per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this not just MLflow or model cards": lineage says where from, alerts say a rule fired, cards describe. None bind a verdict that survives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plainly. Scoring ourselves REVIEW where we are REVIEW is the credibility of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ADOPTION.md over here, printed or linked. Say the October 20 sentence in person. Never ask for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82880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claim is not evidence</a:t>
            </a:r>
            <a:endParaRPr lang="en-US" sz="4400" dirty="0"/>
          </a:p>
        </p:txBody>
      </p:sp>
      <p:sp>
        <p:nvSpPr>
          <p:cNvPr id="3" name="Text 1"/>
          <p:cNvSpPr txBox="1"/>
          <p:nvPr/>
        </p:nvSpPr>
        <p:spPr>
          <a:xfrm>
            <a:off x="822960" y="2697480"/>
            <a:ext cx="10515600" cy="548640"/>
          </a:xfrm>
          <a:prstGeom prst="rect">
            <a:avLst/>
          </a:prstGeom>
          <a:noFill/>
          <a:ln/>
        </p:spPr>
        <p:txBody>
          <a:bodyPr wrap="square" lIns="0" tIns="0" rIns="0" bIns="0" rtlCol="0" anchor="ctr"/>
          <a:lstStyle/>
          <a:p>
            <a:pPr indent="0" marL="0">
              <a:buNone/>
            </a:pPr>
            <a:r>
              <a:rPr lang="en-US" sz="2400" i="1" dirty="0">
                <a:solidFill>
                  <a:srgbClr val="CDC5EE"/>
                </a:solidFill>
                <a:latin typeface="Calibri" pitchFamily="34" charset="0"/>
                <a:ea typeface="Calibri" pitchFamily="34" charset="-122"/>
                <a:cs typeface="Calibri" pitchFamily="34" charset="-120"/>
              </a:rPr>
              <a:t>until it carries a receipt.</a:t>
            </a:r>
            <a:endParaRPr lang="en-US" sz="2400" dirty="0"/>
          </a:p>
        </p:txBody>
      </p:sp>
      <p:sp>
        <p:nvSpPr>
          <p:cNvPr id="4" name="Text 2"/>
          <p:cNvSpPr txBox="1"/>
          <p:nvPr/>
        </p:nvSpPr>
        <p:spPr>
          <a:xfrm>
            <a:off x="822960" y="3977640"/>
            <a:ext cx="10515600" cy="411480"/>
          </a:xfrm>
          <a:prstGeom prst="rect">
            <a:avLst/>
          </a:prstGeom>
          <a:noFill/>
          <a:ln/>
        </p:spPr>
        <p:txBody>
          <a:bodyPr wrap="square" lIns="0" tIns="0" rIns="0" bIns="0" rtlCol="0" anchor="ctr"/>
          <a:lstStyle/>
          <a:p>
            <a:pPr indent="0" marL="0">
              <a:buNone/>
            </a:pPr>
            <a:r>
              <a:rPr lang="en-US" sz="1600" dirty="0">
                <a:solidFill>
                  <a:srgbClr val="CDC5EE"/>
                </a:solidFill>
                <a:latin typeface="Courier New" pitchFamily="34" charset="0"/>
                <a:ea typeface="Courier New" pitchFamily="34" charset="-122"/>
                <a:cs typeface="Courier New" pitchFamily="34" charset="-120"/>
              </a:rPr>
              <a:t>MANOLO-Bench + TRACE receipts</a:t>
            </a:r>
            <a:endParaRPr lang="en-US" sz="16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200" dirty="0">
                <a:solidFill>
                  <a:srgbClr val="9B93B8"/>
                </a:solidFill>
                <a:latin typeface="Calibri" pitchFamily="34" charset="0"/>
                <a:ea typeface="Calibri" pitchFamily="34" charset="-122"/>
                <a:cs typeface="Calibri" pitchFamily="34" charset="-120"/>
              </a:rPr>
              <a:t>Innovation Lab · Thessaloniki · August 2026 · Apache-2.0</a:t>
            </a:r>
            <a:endParaRPr lang="en-US" sz="1200" dirty="0"/>
          </a:p>
        </p:txBody>
      </p:sp>
      <p:sp>
        <p:nvSpPr>
          <p:cNvPr id="6" name="Text 4"/>
          <p:cNvSpPr txBox="1"/>
          <p:nvPr/>
        </p:nvSpPr>
        <p:spPr>
          <a:xfrm>
            <a:off x="822960" y="521208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212080"/>
            <a:ext cx="11430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3383280" y="5212080"/>
            <a:ext cx="11430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9" name="Text 7"/>
          <p:cNvSpPr txBox="1"/>
          <p:nvPr/>
        </p:nvSpPr>
        <p:spPr>
          <a:xfrm>
            <a:off x="4663440" y="521208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8 cite no direct evidence, 6 require validation, 1 cites evidence</a:t>
            </a:r>
            <a:endParaRPr lang="en-US" sz="3200" dirty="0"/>
          </a:p>
        </p:txBody>
      </p:sp>
      <p:sp>
        <p:nvSpPr>
          <p:cNvPr id="3" name="Text 1"/>
          <p:cNvSpPr txBox="1"/>
          <p:nvPr/>
        </p:nvSpPr>
        <p:spPr>
          <a:xfrm>
            <a:off x="548640" y="1417320"/>
            <a:ext cx="3657600" cy="1325880"/>
          </a:xfrm>
          <a:prstGeom prst="rect">
            <a:avLst/>
          </a:prstGeom>
          <a:noFill/>
          <a:ln/>
        </p:spPr>
        <p:txBody>
          <a:bodyPr wrap="square" lIns="0" tIns="0" rIns="0" bIns="0" rtlCol="0" anchor="ctr"/>
          <a:lstStyle/>
          <a:p>
            <a:pPr indent="0" marL="0">
              <a:buNone/>
            </a:pPr>
            <a:r>
              <a:rPr lang="en-US" sz="8400" b="1" dirty="0">
                <a:solidFill>
                  <a:srgbClr val="5B4BC4"/>
                </a:solidFill>
                <a:latin typeface="Calibri" pitchFamily="34" charset="0"/>
                <a:ea typeface="Calibri" pitchFamily="34" charset="-122"/>
                <a:cs typeface="Calibri" pitchFamily="34" charset="-120"/>
              </a:rPr>
              <a:t>8 · 6 · 1</a:t>
            </a:r>
            <a:endParaRPr lang="en-US" sz="8400" dirty="0"/>
          </a:p>
        </p:txBody>
      </p:sp>
      <p:sp>
        <p:nvSpPr>
          <p:cNvPr id="4" name="Text 2"/>
          <p:cNvSpPr txBox="1"/>
          <p:nvPr/>
        </p:nvSpPr>
        <p:spPr>
          <a:xfrm>
            <a:off x="548640" y="2880360"/>
            <a:ext cx="3566160" cy="1280160"/>
          </a:xfrm>
          <a:prstGeom prst="rect">
            <a:avLst/>
          </a:prstGeom>
          <a:noFill/>
          <a:ln/>
        </p:spPr>
        <p:txBody>
          <a:bodyPr wrap="square" lIns="0" tIns="0" rIns="0" bIns="0" rtlCol="0" anchor="ctr"/>
          <a:lstStyle/>
          <a:p>
            <a:pPr indent="0" marL="0">
              <a:buNone/>
            </a:pPr>
            <a:r>
              <a:rPr lang="en-US" sz="1400" dirty="0">
                <a:solidFill>
                  <a:srgbClr val="2A2440"/>
                </a:solidFill>
                <a:latin typeface="Calibri" pitchFamily="34" charset="0"/>
                <a:ea typeface="Calibri" pitchFamily="34" charset="-122"/>
                <a:cs typeface="Calibri" pitchFamily="34" charset="-120"/>
              </a:rPr>
              <a:t>claims in the framework's published assessment table carry no direct evidence, in the assessment itself.</a:t>
            </a:r>
            <a:endParaRPr lang="en-US" sz="1400" dirty="0"/>
          </a:p>
        </p:txBody>
      </p:sp>
      <p:sp>
        <p:nvSpPr>
          <p:cNvPr id="5" name="Text 3"/>
          <p:cNvSpPr txBox="1"/>
          <p:nvPr/>
        </p:nvSpPr>
        <p:spPr>
          <a:xfrm>
            <a:off x="548640" y="4297680"/>
            <a:ext cx="3566160" cy="548640"/>
          </a:xfrm>
          <a:prstGeom prst="rect">
            <a:avLst/>
          </a:prstGeom>
          <a:noFill/>
          <a:ln/>
        </p:spPr>
        <p:txBody>
          <a:bodyPr wrap="square" lIns="0" tIns="0" rIns="0" bIns="0" rtlCol="0" anchor="ctr"/>
          <a:lstStyle/>
          <a:p>
            <a:pPr indent="0" marL="0">
              <a:buNone/>
            </a:pPr>
            <a:r>
              <a:rPr lang="en-US" sz="1050" dirty="0">
                <a:solidFill>
                  <a:srgbClr val="6A6480"/>
                </a:solidFill>
                <a:latin typeface="Courier New" pitchFamily="34" charset="0"/>
                <a:ea typeface="Courier New" pitchFamily="34" charset="-122"/>
                <a:cs typeface="Courier New" pitchFamily="34" charset="-120"/>
              </a:rPr>
              <a:t>MANOLO D5.1 · section 7.2.5 · Table 7 · pages 47 to 49</a:t>
            </a:r>
            <a:endParaRPr lang="en-US" sz="1050" dirty="0"/>
          </a:p>
        </p:txBody>
      </p:sp>
      <p:sp>
        <p:nvSpPr>
          <p:cNvPr id="6" name="Shape 4"/>
          <p:cNvSpPr/>
          <p:nvPr/>
        </p:nvSpPr>
        <p:spPr>
          <a:xfrm>
            <a:off x="4526280" y="141732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754880" y="156362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CLAIM-4</a:t>
            </a:r>
            <a:endParaRPr lang="en-US" sz="1300" dirty="0"/>
          </a:p>
        </p:txBody>
      </p:sp>
      <p:sp>
        <p:nvSpPr>
          <p:cNvPr id="8" name="Text 6"/>
          <p:cNvSpPr txBox="1"/>
          <p:nvPr/>
        </p:nvSpPr>
        <p:spPr>
          <a:xfrm>
            <a:off x="4754880" y="192024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The system maintains sub-100 ms real-time latency</a:t>
            </a:r>
            <a:endParaRPr lang="en-US" sz="1150" dirty="0"/>
          </a:p>
        </p:txBody>
      </p:sp>
      <p:sp>
        <p:nvSpPr>
          <p:cNvPr id="9" name="Text 7"/>
          <p:cNvSpPr txBox="1"/>
          <p:nvPr/>
        </p:nvSpPr>
        <p:spPr>
          <a:xfrm>
            <a:off x="9829800" y="178308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0" name="Shape 8"/>
          <p:cNvSpPr/>
          <p:nvPr/>
        </p:nvSpPr>
        <p:spPr>
          <a:xfrm>
            <a:off x="4526280" y="265176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1" name="Text 9"/>
          <p:cNvSpPr txBox="1"/>
          <p:nvPr/>
        </p:nvSpPr>
        <p:spPr>
          <a:xfrm>
            <a:off x="4754880" y="279806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CLAIM-7</a:t>
            </a:r>
            <a:endParaRPr lang="en-US" sz="1300" dirty="0"/>
          </a:p>
        </p:txBody>
      </p:sp>
      <p:sp>
        <p:nvSpPr>
          <p:cNvPr id="12" name="Text 10"/>
          <p:cNvSpPr txBox="1"/>
          <p:nvPr/>
        </p:nvSpPr>
        <p:spPr>
          <a:xfrm>
            <a:off x="4754880" y="315468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Model compression maintains accuracy while cutting compute</a:t>
            </a:r>
            <a:endParaRPr lang="en-US" sz="1150" dirty="0"/>
          </a:p>
        </p:txBody>
      </p:sp>
      <p:sp>
        <p:nvSpPr>
          <p:cNvPr id="13" name="Text 11"/>
          <p:cNvSpPr txBox="1"/>
          <p:nvPr/>
        </p:nvSpPr>
        <p:spPr>
          <a:xfrm>
            <a:off x="9829800" y="301752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4" name="Shape 12"/>
          <p:cNvSpPr/>
          <p:nvPr/>
        </p:nvSpPr>
        <p:spPr>
          <a:xfrm>
            <a:off x="4526280" y="388620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5" name="Text 13"/>
          <p:cNvSpPr txBox="1"/>
          <p:nvPr/>
        </p:nvSpPr>
        <p:spPr>
          <a:xfrm>
            <a:off x="4754880" y="403250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CLAIM-2</a:t>
            </a:r>
            <a:endParaRPr lang="en-US" sz="1300" dirty="0"/>
          </a:p>
        </p:txBody>
      </p:sp>
      <p:sp>
        <p:nvSpPr>
          <p:cNvPr id="16" name="Text 14"/>
          <p:cNvSpPr txBox="1"/>
          <p:nvPr/>
        </p:nvSpPr>
        <p:spPr>
          <a:xfrm>
            <a:off x="4754880" y="438912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87.08% PSG and 86.64% wearable match, BOAS dataset</a:t>
            </a:r>
            <a:endParaRPr lang="en-US" sz="1150" dirty="0"/>
          </a:p>
        </p:txBody>
      </p:sp>
      <p:sp>
        <p:nvSpPr>
          <p:cNvPr id="17" name="Text 15"/>
          <p:cNvSpPr txBox="1"/>
          <p:nvPr/>
        </p:nvSpPr>
        <p:spPr>
          <a:xfrm>
            <a:off x="9829800" y="4251960"/>
            <a:ext cx="16002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published evidence</a:t>
            </a:r>
            <a:endParaRPr lang="en-US" sz="105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500" b="1" dirty="0">
                <a:solidFill>
                  <a:srgbClr val="2A2440"/>
                </a:solidFill>
                <a:latin typeface="Calibri" pitchFamily="34" charset="0"/>
                <a:ea typeface="Calibri" pitchFamily="34" charset="-122"/>
                <a:cs typeface="Calibri" pitchFamily="34" charset="-120"/>
              </a:rPr>
              <a:t>The deliverable documented this gap itself. We built the instrument for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Evidence origin decides before arithmetic does</a:t>
            </a:r>
            <a:endParaRPr lang="en-US" sz="3200" dirty="0"/>
          </a:p>
        </p:txBody>
      </p:sp>
      <p:sp>
        <p:nvSpPr>
          <p:cNvPr id="3" name="Shape 1"/>
          <p:cNvSpPr/>
          <p:nvPr/>
        </p:nvSpPr>
        <p:spPr>
          <a:xfrm>
            <a:off x="54864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Bench measures</a:t>
            </a:r>
            <a:endParaRPr lang="en-US" sz="1500" dirty="0"/>
          </a:p>
        </p:txBody>
      </p:sp>
      <p:sp>
        <p:nvSpPr>
          <p:cNvPr id="5" name="Text 3"/>
          <p:cNvSpPr txBox="1"/>
          <p:nvPr/>
        </p:nvSpPr>
        <p:spPr>
          <a:xfrm>
            <a:off x="77724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seeded, replayable, one command</a:t>
            </a:r>
            <a:endParaRPr lang="en-US" sz="1150" dirty="0"/>
          </a:p>
        </p:txBody>
      </p:sp>
      <p:sp>
        <p:nvSpPr>
          <p:cNvPr id="6" name="Shape 4"/>
          <p:cNvSpPr/>
          <p:nvPr/>
        </p:nvSpPr>
        <p:spPr>
          <a:xfrm>
            <a:off x="3858768" y="1847088"/>
            <a:ext cx="640080" cy="0"/>
          </a:xfrm>
          <a:prstGeom prst="line">
            <a:avLst/>
          </a:prstGeom>
          <a:noFill/>
          <a:ln w="25400">
            <a:solidFill>
              <a:srgbClr val="5B4BC4"/>
            </a:solidFill>
            <a:prstDash val="solid"/>
            <a:tailEnd type="triangle"/>
          </a:ln>
        </p:spPr>
      </p:sp>
      <p:sp>
        <p:nvSpPr>
          <p:cNvPr id="7" name="Shape 5"/>
          <p:cNvSpPr/>
          <p:nvPr/>
        </p:nvSpPr>
        <p:spPr>
          <a:xfrm>
            <a:off x="457200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8" name="Text 6"/>
          <p:cNvSpPr txBox="1"/>
          <p:nvPr/>
        </p:nvSpPr>
        <p:spPr>
          <a:xfrm>
            <a:off x="480060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Gate judges</a:t>
            </a:r>
            <a:endParaRPr lang="en-US" sz="1500" dirty="0"/>
          </a:p>
        </p:txBody>
      </p:sp>
      <p:sp>
        <p:nvSpPr>
          <p:cNvPr id="9" name="Text 7"/>
          <p:cNvSpPr txBox="1"/>
          <p:nvPr/>
        </p:nvSpPr>
        <p:spPr>
          <a:xfrm>
            <a:off x="480060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origin check first, then threshold</a:t>
            </a:r>
            <a:endParaRPr lang="en-US" sz="1150" dirty="0"/>
          </a:p>
        </p:txBody>
      </p:sp>
      <p:sp>
        <p:nvSpPr>
          <p:cNvPr id="10" name="Shape 8"/>
          <p:cNvSpPr/>
          <p:nvPr/>
        </p:nvSpPr>
        <p:spPr>
          <a:xfrm>
            <a:off x="7882128" y="1847088"/>
            <a:ext cx="640080" cy="0"/>
          </a:xfrm>
          <a:prstGeom prst="line">
            <a:avLst/>
          </a:prstGeom>
          <a:noFill/>
          <a:ln w="25400">
            <a:solidFill>
              <a:srgbClr val="5B4BC4"/>
            </a:solidFill>
            <a:prstDash val="solid"/>
            <a:tailEnd type="triangle"/>
          </a:ln>
        </p:spPr>
      </p:sp>
      <p:sp>
        <p:nvSpPr>
          <p:cNvPr id="11" name="Shape 9"/>
          <p:cNvSpPr/>
          <p:nvPr/>
        </p:nvSpPr>
        <p:spPr>
          <a:xfrm>
            <a:off x="859536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2" name="Text 10"/>
          <p:cNvSpPr txBox="1"/>
          <p:nvPr/>
        </p:nvSpPr>
        <p:spPr>
          <a:xfrm>
            <a:off x="882396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Receipts remember</a:t>
            </a:r>
            <a:endParaRPr lang="en-US" sz="1500" dirty="0"/>
          </a:p>
        </p:txBody>
      </p:sp>
      <p:sp>
        <p:nvSpPr>
          <p:cNvPr id="13" name="Text 11"/>
          <p:cNvSpPr txBox="1"/>
          <p:nvPr/>
        </p:nvSpPr>
        <p:spPr>
          <a:xfrm>
            <a:off x="882396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Ed25519, digest-bound, chained</a:t>
            </a:r>
            <a:endParaRPr lang="en-US" sz="1150" dirty="0"/>
          </a:p>
        </p:txBody>
      </p:sp>
      <p:sp>
        <p:nvSpPr>
          <p:cNvPr id="14" name="Text 12"/>
          <p:cNvSpPr txBox="1"/>
          <p:nvPr/>
        </p:nvSpPr>
        <p:spPr>
          <a:xfrm>
            <a:off x="548640" y="2743200"/>
            <a:ext cx="2743200" cy="36576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Evidence origins</a:t>
            </a:r>
            <a:endParaRPr lang="en-US" sz="1300" dirty="0"/>
          </a:p>
        </p:txBody>
      </p:sp>
      <p:sp>
        <p:nvSpPr>
          <p:cNvPr id="15" name="Text 13"/>
          <p:cNvSpPr txBox="1"/>
          <p:nvPr/>
        </p:nvSpPr>
        <p:spPr>
          <a:xfrm>
            <a:off x="2743200" y="2761488"/>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measured</a:t>
            </a:r>
            <a:endParaRPr lang="en-US" sz="1050" dirty="0"/>
          </a:p>
        </p:txBody>
      </p:sp>
      <p:sp>
        <p:nvSpPr>
          <p:cNvPr id="16" name="Text 14"/>
          <p:cNvSpPr txBox="1"/>
          <p:nvPr/>
        </p:nvSpPr>
        <p:spPr>
          <a:xfrm>
            <a:off x="4251960" y="2761488"/>
            <a:ext cx="13716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published</a:t>
            </a:r>
            <a:endParaRPr lang="en-US" sz="1050" dirty="0"/>
          </a:p>
        </p:txBody>
      </p:sp>
      <p:sp>
        <p:nvSpPr>
          <p:cNvPr id="17" name="Text 15"/>
          <p:cNvSpPr txBox="1"/>
          <p:nvPr/>
        </p:nvSpPr>
        <p:spPr>
          <a:xfrm>
            <a:off x="576072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upstream</a:t>
            </a:r>
            <a:endParaRPr lang="en-US" sz="1050" dirty="0"/>
          </a:p>
        </p:txBody>
      </p:sp>
      <p:sp>
        <p:nvSpPr>
          <p:cNvPr id="18" name="Text 16"/>
          <p:cNvSpPr txBox="1"/>
          <p:nvPr/>
        </p:nvSpPr>
        <p:spPr>
          <a:xfrm>
            <a:off x="726948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assumed</a:t>
            </a:r>
            <a:endParaRPr lang="en-US" sz="1050" dirty="0"/>
          </a:p>
        </p:txBody>
      </p:sp>
      <p:sp>
        <p:nvSpPr>
          <p:cNvPr id="19" name="Text 17"/>
          <p:cNvSpPr txBox="1"/>
          <p:nvPr/>
        </p:nvSpPr>
        <p:spPr>
          <a:xfrm>
            <a:off x="548640" y="3246120"/>
            <a:ext cx="11064240" cy="36576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A threshold match from an unaccepted origin is REVIEW, never PASS. A quote is not a measurement.</a:t>
            </a:r>
            <a:endParaRPr lang="en-US" sz="1300" dirty="0"/>
          </a:p>
        </p:txBody>
      </p:sp>
      <p:sp>
        <p:nvSpPr>
          <p:cNvPr id="20" name="Text 18"/>
          <p:cNvSpPr txBox="1"/>
          <p:nvPr/>
        </p:nvSpPr>
        <p:spPr>
          <a:xfrm>
            <a:off x="548640" y="3886200"/>
            <a:ext cx="123444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21" name="Text 19"/>
          <p:cNvSpPr txBox="1"/>
          <p:nvPr/>
        </p:nvSpPr>
        <p:spPr>
          <a:xfrm>
            <a:off x="192024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2" name="Text 20"/>
          <p:cNvSpPr txBox="1"/>
          <p:nvPr/>
        </p:nvSpPr>
        <p:spPr>
          <a:xfrm>
            <a:off x="2880360" y="388620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23" name="Text 21"/>
          <p:cNvSpPr txBox="1"/>
          <p:nvPr/>
        </p:nvSpPr>
        <p:spPr>
          <a:xfrm>
            <a:off x="6309360" y="388620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24" name="Text 22"/>
          <p:cNvSpPr txBox="1"/>
          <p:nvPr/>
        </p:nvSpPr>
        <p:spPr>
          <a:xfrm>
            <a:off x="768096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5" name="Text 23"/>
          <p:cNvSpPr txBox="1"/>
          <p:nvPr/>
        </p:nvSpPr>
        <p:spPr>
          <a:xfrm>
            <a:off x="8641080" y="388620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6" name="Text 24"/>
          <p:cNvSpPr txBox="1"/>
          <p:nvPr/>
        </p:nvSpPr>
        <p:spPr>
          <a:xfrm>
            <a:off x="54864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FAIL</a:t>
            </a:r>
            <a:endParaRPr lang="en-US" sz="1050" dirty="0"/>
          </a:p>
        </p:txBody>
      </p:sp>
      <p:sp>
        <p:nvSpPr>
          <p:cNvPr id="27" name="Text 25"/>
          <p:cNvSpPr txBox="1"/>
          <p:nvPr/>
        </p:nvSpPr>
        <p:spPr>
          <a:xfrm>
            <a:off x="192024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8" name="Text 26"/>
          <p:cNvSpPr txBox="1"/>
          <p:nvPr/>
        </p:nvSpPr>
        <p:spPr>
          <a:xfrm>
            <a:off x="2880360" y="448056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9" name="Text 27"/>
          <p:cNvSpPr txBox="1"/>
          <p:nvPr/>
        </p:nvSpPr>
        <p:spPr>
          <a:xfrm>
            <a:off x="630936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30" name="Text 28"/>
          <p:cNvSpPr txBox="1"/>
          <p:nvPr/>
        </p:nvSpPr>
        <p:spPr>
          <a:xfrm>
            <a:off x="768096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31" name="Text 29"/>
          <p:cNvSpPr txBox="1"/>
          <p:nvPr/>
        </p:nvSpPr>
        <p:spPr>
          <a:xfrm>
            <a:off x="8641080" y="4480560"/>
            <a:ext cx="13716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32" name="Text 30"/>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Only REVIEW is overridable: named actor, reason, scope. The override is itself a signed receipt. Integrity failures are never overridable.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tried to break the gate before asking you to trust it</a:t>
            </a:r>
            <a:endParaRPr lang="en-US" sz="3200" dirty="0"/>
          </a:p>
        </p:txBody>
      </p:sp>
      <p:graphicFrame>
        <p:nvGraphicFramePr>
          <p:cNvPr id="3" name="Chart 0" descr=""/>
          <p:cNvGraphicFramePr/>
          <p:nvPr/>
        </p:nvGraphicFramePr>
        <p:xfrm>
          <a:off x="548640" y="141732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858000" y="1371600"/>
            <a:ext cx="4754880" cy="822960"/>
          </a:xfrm>
          <a:prstGeom prst="rect">
            <a:avLst/>
          </a:prstGeom>
          <a:noFill/>
          <a:ln/>
        </p:spPr>
        <p:txBody>
          <a:bodyPr wrap="square" lIns="0" tIns="0" rIns="0" bIns="0" rtlCol="0" anchor="ctr"/>
          <a:lstStyle/>
          <a:p>
            <a:pPr indent="0" marL="0">
              <a:buNone/>
            </a:pPr>
            <a:r>
              <a:rPr lang="en-US" sz="5200" b="1" dirty="0">
                <a:solidFill>
                  <a:srgbClr val="5B4BC4"/>
                </a:solidFill>
                <a:latin typeface="Calibri" pitchFamily="34" charset="0"/>
                <a:ea typeface="Calibri" pitchFamily="34" charset="-122"/>
                <a:cs typeface="Calibri" pitchFamily="34" charset="-120"/>
              </a:rPr>
              <a:t>3.94x</a:t>
            </a:r>
            <a:endParaRPr lang="en-US" sz="5200" dirty="0"/>
          </a:p>
        </p:txBody>
      </p:sp>
      <p:sp>
        <p:nvSpPr>
          <p:cNvPr id="5" name="Text 2"/>
          <p:cNvSpPr txBox="1"/>
          <p:nvPr/>
        </p:nvSpPr>
        <p:spPr>
          <a:xfrm>
            <a:off x="6858000" y="219456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memory reduction: 1024 to 260 bytes per vector</a:t>
            </a:r>
            <a:endParaRPr lang="en-US" sz="1250" dirty="0"/>
          </a:p>
        </p:txBody>
      </p:sp>
      <p:sp>
        <p:nvSpPr>
          <p:cNvPr id="6" name="Text 3"/>
          <p:cNvSpPr txBox="1"/>
          <p:nvPr/>
        </p:nvSpPr>
        <p:spPr>
          <a:xfrm>
            <a:off x="6858000" y="2788920"/>
            <a:ext cx="4754880" cy="640080"/>
          </a:xfrm>
          <a:prstGeom prst="rect">
            <a:avLst/>
          </a:prstGeom>
          <a:noFill/>
          <a:ln/>
        </p:spPr>
        <p:txBody>
          <a:bodyPr wrap="square" lIns="0" tIns="0" rIns="0" bIns="0" rtlCol="0" anchor="ctr"/>
          <a:lstStyle/>
          <a:p>
            <a:pPr indent="0" marL="0">
              <a:buNone/>
            </a:pPr>
            <a:r>
              <a:rPr lang="en-US" sz="3400" b="1" dirty="0">
                <a:solidFill>
                  <a:srgbClr val="2A2440"/>
                </a:solidFill>
                <a:latin typeface="Calibri" pitchFamily="34" charset="0"/>
                <a:ea typeface="Calibri" pitchFamily="34" charset="-122"/>
                <a:cs typeface="Calibri" pitchFamily="34" charset="-120"/>
              </a:rPr>
              <a:t>0.988 / 0.944</a:t>
            </a:r>
            <a:endParaRPr lang="en-US" sz="3400" dirty="0"/>
          </a:p>
        </p:txBody>
      </p:sp>
      <p:sp>
        <p:nvSpPr>
          <p:cNvPr id="7" name="Text 4"/>
          <p:cNvSpPr txBox="1"/>
          <p:nvPr/>
        </p:nvSpPr>
        <p:spPr>
          <a:xfrm>
            <a:off x="6858000" y="342900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recall@10, int8 and HNSW, against exact ground truth</a:t>
            </a:r>
            <a:endParaRPr lang="en-US" sz="1250" dirty="0"/>
          </a:p>
        </p:txBody>
      </p:sp>
      <p:sp>
        <p:nvSpPr>
          <p:cNvPr id="8" name="Text 5"/>
          <p:cNvSpPr txBox="1"/>
          <p:nvPr/>
        </p:nvSpPr>
        <p:spPr>
          <a:xfrm>
            <a:off x="6858000" y="3977640"/>
            <a:ext cx="4754880" cy="822960"/>
          </a:xfrm>
          <a:prstGeom prst="rect">
            <a:avLst/>
          </a:prstGeom>
          <a:noFill/>
          <a:ln/>
        </p:spPr>
        <p:txBody>
          <a:bodyPr wrap="square" lIns="0" tIns="0" rIns="0" bIns="0" rtlCol="0" anchor="ctr"/>
          <a:lstStyle/>
          <a:p>
            <a:pPr indent="0" marL="0">
              <a:buNone/>
            </a:pPr>
            <a:r>
              <a:rPr lang="en-US" sz="1050" i="1" dirty="0">
                <a:solidFill>
                  <a:srgbClr val="6A6480"/>
                </a:solidFill>
                <a:latin typeface="Calibri" pitchFamily="34" charset="0"/>
                <a:ea typeface="Calibri" pitchFamily="34" charset="-122"/>
                <a:cs typeface="Calibri" pitchFamily="34" charset="-120"/>
              </a:rPr>
              <a:t>HNSW latency crosses runtimes (native SIMD Rust vs a JS loop): read it as packaged-system latency for a deployment decision.</a:t>
            </a:r>
            <a:endParaRPr lang="en-US" sz="1050" dirty="0"/>
          </a:p>
        </p:txBody>
      </p:sp>
      <p:sp>
        <p:nvSpPr>
          <p:cNvPr id="9" name="Text 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5B4BC4"/>
                </a:solidFill>
                <a:latin typeface="Courier New" pitchFamily="34" charset="0"/>
                <a:ea typeface="Courier New" pitchFamily="34" charset="-122"/>
                <a:cs typeface="Courier New" pitchFamily="34" charset="-120"/>
              </a:rPr>
              <a:t>7/7 verdicts incl. hard-inside-margin · unauthorised signer rejected · wrong verdict caught by replay · 3/3 tamper caught · verify p95 under 0.25 ms · 0 outbound attempts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Watch the baseline fail open</a:t>
            </a:r>
            <a:endParaRPr lang="en-US" sz="3200" dirty="0"/>
          </a:p>
        </p:txBody>
      </p:sp>
      <p:sp>
        <p:nvSpPr>
          <p:cNvPr id="3" name="Shape 1"/>
          <p:cNvSpPr/>
          <p:nvPr/>
        </p:nvSpPr>
        <p:spPr>
          <a:xfrm>
            <a:off x="548640" y="1408176"/>
            <a:ext cx="475488" cy="475488"/>
          </a:xfrm>
          <a:prstGeom prst="ellipse">
            <a:avLst/>
          </a:prstGeom>
          <a:solidFill>
            <a:srgbClr val="5B4BC4"/>
          </a:solidFill>
          <a:ln/>
        </p:spPr>
      </p:sp>
      <p:sp>
        <p:nvSpPr>
          <p:cNvPr id="4" name="Text 2"/>
          <p:cNvSpPr txBox="1"/>
          <p:nvPr/>
        </p:nvSpPr>
        <p:spPr>
          <a:xfrm>
            <a:off x="548640" y="140817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298448"/>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naive checker passes an upstream 82 ms quote against the CLAIM-4 pattern. The gate answers REVIEW and PAUSE, naming the origin.</a:t>
            </a:r>
            <a:endParaRPr lang="en-US" sz="1250" dirty="0"/>
          </a:p>
        </p:txBody>
      </p:sp>
      <p:sp>
        <p:nvSpPr>
          <p:cNvPr id="6" name="Text 4"/>
          <p:cNvSpPr txBox="1"/>
          <p:nvPr/>
        </p:nvSpPr>
        <p:spPr>
          <a:xfrm>
            <a:off x="10195560" y="1499616"/>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7" name="Shape 5"/>
          <p:cNvSpPr/>
          <p:nvPr/>
        </p:nvSpPr>
        <p:spPr>
          <a:xfrm>
            <a:off x="548640" y="2340864"/>
            <a:ext cx="475488" cy="475488"/>
          </a:xfrm>
          <a:prstGeom prst="ellipse">
            <a:avLst/>
          </a:prstGeom>
          <a:solidFill>
            <a:srgbClr val="5B4BC4"/>
          </a:solidFill>
          <a:ln/>
        </p:spPr>
      </p:sp>
      <p:sp>
        <p:nvSpPr>
          <p:cNvPr id="8" name="Text 6"/>
          <p:cNvSpPr txBox="1"/>
          <p:nvPr/>
        </p:nvSpPr>
        <p:spPr>
          <a:xfrm>
            <a:off x="548640" y="2340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231136"/>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Placement pair: identical claims, two zones. Sweden CONTINUE, Greece STOP under the workload-declared 100 g budget (Ember 2024, Eurostat 2025-S2).</a:t>
            </a:r>
            <a:endParaRPr lang="en-US" sz="1250" dirty="0"/>
          </a:p>
        </p:txBody>
      </p:sp>
      <p:sp>
        <p:nvSpPr>
          <p:cNvPr id="10" name="Text 8"/>
          <p:cNvSpPr txBox="1"/>
          <p:nvPr/>
        </p:nvSpPr>
        <p:spPr>
          <a:xfrm>
            <a:off x="10195560" y="2432304"/>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11" name="Shape 9"/>
          <p:cNvSpPr/>
          <p:nvPr/>
        </p:nvSpPr>
        <p:spPr>
          <a:xfrm>
            <a:off x="548640" y="3273552"/>
            <a:ext cx="475488" cy="475488"/>
          </a:xfrm>
          <a:prstGeom prst="ellipse">
            <a:avLst/>
          </a:prstGeom>
          <a:solidFill>
            <a:srgbClr val="5B4BC4"/>
          </a:solidFill>
          <a:ln/>
        </p:spPr>
      </p:sp>
      <p:sp>
        <p:nvSpPr>
          <p:cNvPr id="12" name="Text 10"/>
          <p:cNvSpPr txBox="1"/>
          <p:nvPr/>
        </p:nvSpPr>
        <p:spPr>
          <a:xfrm>
            <a:off x="548640" y="32735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3163824"/>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cost claim meets its threshold and still pauses: measured CPU time, assumed wattage, upstream price. Arithmetic is not evidence.</a:t>
            </a:r>
            <a:endParaRPr lang="en-US" sz="1250" dirty="0"/>
          </a:p>
        </p:txBody>
      </p:sp>
      <p:sp>
        <p:nvSpPr>
          <p:cNvPr id="14" name="Text 12"/>
          <p:cNvSpPr txBox="1"/>
          <p:nvPr/>
        </p:nvSpPr>
        <p:spPr>
          <a:xfrm>
            <a:off x="10195560" y="3364992"/>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15" name="Shape 13"/>
          <p:cNvSpPr/>
          <p:nvPr/>
        </p:nvSpPr>
        <p:spPr>
          <a:xfrm>
            <a:off x="548640" y="4206240"/>
            <a:ext cx="475488" cy="475488"/>
          </a:xfrm>
          <a:prstGeom prst="ellipse">
            <a:avLst/>
          </a:prstGeom>
          <a:solidFill>
            <a:srgbClr val="5B4BC4"/>
          </a:solidFill>
          <a:ln/>
        </p:spPr>
      </p:sp>
      <p:sp>
        <p:nvSpPr>
          <p:cNvPr id="16" name="Text 14"/>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4096512"/>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Edit one digit of the evidence, verify: INVALID, mismatch named. Undo, green.</a:t>
            </a:r>
            <a:endParaRPr lang="en-US" sz="1250" dirty="0"/>
          </a:p>
        </p:txBody>
      </p:sp>
      <p:sp>
        <p:nvSpPr>
          <p:cNvPr id="18" name="Text 16"/>
          <p:cNvSpPr txBox="1"/>
          <p:nvPr/>
        </p:nvSpPr>
        <p:spPr>
          <a:xfrm>
            <a:off x="10195560" y="4297680"/>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INVALID</a:t>
            </a:r>
            <a:endParaRPr lang="en-US" sz="1050" dirty="0"/>
          </a:p>
        </p:txBody>
      </p:sp>
      <p:sp>
        <p:nvSpPr>
          <p:cNvPr id="19" name="Shape 17"/>
          <p:cNvSpPr/>
          <p:nvPr/>
        </p:nvSpPr>
        <p:spPr>
          <a:xfrm>
            <a:off x="548640" y="5138928"/>
            <a:ext cx="475488" cy="475488"/>
          </a:xfrm>
          <a:prstGeom prst="ellipse">
            <a:avLst/>
          </a:prstGeom>
          <a:solidFill>
            <a:srgbClr val="5B4BC4"/>
          </a:solidFill>
          <a:ln/>
        </p:spPr>
      </p:sp>
      <p:sp>
        <p:nvSpPr>
          <p:cNvPr id="20" name="Text 18"/>
          <p:cNvSpPr txBox="1"/>
          <p:nvPr/>
        </p:nvSpPr>
        <p:spPr>
          <a:xfrm>
            <a:off x="548640" y="5138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5029200"/>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Receipt-0007: the one evidenced claim in their table, CLAIM-2, already carries a receipt.</a:t>
            </a:r>
            <a:endParaRPr lang="en-US" sz="1250" dirty="0"/>
          </a:p>
        </p:txBody>
      </p:sp>
      <p:sp>
        <p:nvSpPr>
          <p:cNvPr id="22" name="Text 20"/>
          <p:cNvSpPr txBox="1"/>
          <p:nvPr/>
        </p:nvSpPr>
        <p:spPr>
          <a:xfrm>
            <a:off x="10195560" y="5230368"/>
            <a:ext cx="141732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The missing joint between D2.1, D4.1, and D6.1</a:t>
            </a:r>
            <a:endParaRPr lang="en-US" sz="3200" dirty="0"/>
          </a:p>
        </p:txBody>
      </p:sp>
      <p:sp>
        <p:nvSpPr>
          <p:cNvPr id="3" name="Shape 1"/>
          <p:cNvSpPr/>
          <p:nvPr/>
        </p:nvSpPr>
        <p:spPr>
          <a:xfrm>
            <a:off x="548640"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D2.1 Data Operations Manager</a:t>
            </a:r>
            <a:endParaRPr lang="en-US" sz="1400" dirty="0"/>
          </a:p>
        </p:txBody>
      </p:sp>
      <p:sp>
        <p:nvSpPr>
          <p:cNvPr id="5" name="Text 3"/>
          <p:cNvSpPr txBox="1"/>
          <p:nvPr/>
        </p:nvSpPr>
        <p:spPr>
          <a:xfrm>
            <a:off x="777240"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Lineage: where artifacts came from. No verdicts.</a:t>
            </a:r>
            <a:endParaRPr lang="en-US" sz="1150" dirty="0"/>
          </a:p>
        </p:txBody>
      </p:sp>
      <p:sp>
        <p:nvSpPr>
          <p:cNvPr id="6" name="Shape 4"/>
          <p:cNvSpPr/>
          <p:nvPr/>
        </p:nvSpPr>
        <p:spPr>
          <a:xfrm>
            <a:off x="4370832"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599432"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D4.1 Policy Manager</a:t>
            </a:r>
            <a:endParaRPr lang="en-US" sz="1400" dirty="0"/>
          </a:p>
        </p:txBody>
      </p:sp>
      <p:sp>
        <p:nvSpPr>
          <p:cNvPr id="8" name="Text 6"/>
          <p:cNvSpPr txBox="1"/>
          <p:nvPr/>
        </p:nvSpPr>
        <p:spPr>
          <a:xfrm>
            <a:off x="4599432"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Alerts on policy violations, logged. No claim-verdict artifact.</a:t>
            </a:r>
            <a:endParaRPr lang="en-US" sz="1150" dirty="0"/>
          </a:p>
        </p:txBody>
      </p:sp>
      <p:sp>
        <p:nvSpPr>
          <p:cNvPr id="9" name="Shape 7"/>
          <p:cNvSpPr/>
          <p:nvPr/>
        </p:nvSpPr>
        <p:spPr>
          <a:xfrm>
            <a:off x="8193024"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0" name="Text 8"/>
          <p:cNvSpPr txBox="1"/>
          <p:nvPr/>
        </p:nvSpPr>
        <p:spPr>
          <a:xfrm>
            <a:off x="8421624"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D6.1 CAE in Z-Inspection®</a:t>
            </a:r>
            <a:endParaRPr lang="en-US" sz="1400" dirty="0"/>
          </a:p>
        </p:txBody>
      </p:sp>
      <p:sp>
        <p:nvSpPr>
          <p:cNvPr id="11" name="Text 9"/>
          <p:cNvSpPr txBox="1"/>
          <p:nvPr/>
        </p:nvSpPr>
        <p:spPr>
          <a:xfrm>
            <a:off x="8421624"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Claims, arguments, evidence: qualitative and socio-technical.</a:t>
            </a:r>
            <a:endParaRPr lang="en-US" sz="1150" dirty="0"/>
          </a:p>
        </p:txBody>
      </p:sp>
      <p:sp>
        <p:nvSpPr>
          <p:cNvPr id="12" name="Shape 10"/>
          <p:cNvSpPr/>
          <p:nvPr/>
        </p:nvSpPr>
        <p:spPr>
          <a:xfrm>
            <a:off x="6089904" y="3017520"/>
            <a:ext cx="0" cy="502920"/>
          </a:xfrm>
          <a:prstGeom prst="line">
            <a:avLst/>
          </a:prstGeom>
          <a:noFill/>
          <a:ln w="25400">
            <a:solidFill>
              <a:srgbClr val="5B4BC4"/>
            </a:solidFill>
            <a:prstDash val="solid"/>
            <a:tailEnd type="triangle"/>
          </a:ln>
        </p:spPr>
      </p:sp>
      <p:sp>
        <p:nvSpPr>
          <p:cNvPr id="13" name="Shape 11"/>
          <p:cNvSpPr/>
          <p:nvPr/>
        </p:nvSpPr>
        <p:spPr>
          <a:xfrm>
            <a:off x="548640" y="3657600"/>
            <a:ext cx="11091672" cy="1234440"/>
          </a:xfrm>
          <a:prstGeom prst="roundRect">
            <a:avLst>
              <a:gd name="adj" fmla="val 6667"/>
            </a:avLst>
          </a:prstGeom>
          <a:solidFill>
            <a:srgbClr val="E4DFF6"/>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4" name="Text 12"/>
          <p:cNvSpPr txBox="1"/>
          <p:nvPr/>
        </p:nvSpPr>
        <p:spPr>
          <a:xfrm>
            <a:off x="868680" y="3886200"/>
            <a:ext cx="10424160" cy="822960"/>
          </a:xfrm>
          <a:prstGeom prst="rect">
            <a:avLst/>
          </a:prstGeom>
          <a:noFill/>
          <a:ln/>
        </p:spPr>
        <p:txBody>
          <a:bodyPr wrap="square" lIns="0" tIns="0" rIns="0" bIns="0" rtlCol="0" anchor="ctr"/>
          <a:lstStyle/>
          <a:p>
            <a:pPr indent="0" marL="0">
              <a:buNone/>
            </a:pPr>
            <a:r>
              <a:rPr lang="en-US" sz="1600" b="1" dirty="0">
                <a:solidFill>
                  <a:srgbClr val="2A2440"/>
                </a:solidFill>
                <a:latin typeface="Calibri" pitchFamily="34" charset="0"/>
                <a:ea typeface="Calibri" pitchFamily="34" charset="-122"/>
                <a:cs typeface="Calibri" pitchFamily="34" charset="-120"/>
              </a:rPr>
              <a:t>The TRACE receipt binds claim + threshold + measured value + evidence digest, signed, chained, replayable by anyone from the repo.</a:t>
            </a:r>
            <a:endParaRPr lang="en-US" sz="1600" dirty="0"/>
          </a:p>
        </p:txBody>
      </p:sp>
      <p:sp>
        <p:nvSpPr>
          <p:cNvPr id="15" name="Text 13"/>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MANOLO-shaped and adapter-ready, never claimed compatible · speaks IPD YAML and AIWorkloadID · no receipts, attestation, or signing anywhere in the nine public deliverables (checked)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score ourselves REVIEW where we are REVIEW</a:t>
            </a:r>
            <a:endParaRPr lang="en-US" sz="3200" dirty="0"/>
          </a:p>
        </p:txBody>
      </p:sp>
      <p:sp>
        <p:nvSpPr>
          <p:cNvPr id="3" name="Text 1"/>
          <p:cNvSpPr txBox="1"/>
          <p:nvPr/>
        </p:nvSpPr>
        <p:spPr>
          <a:xfrm>
            <a:off x="548640" y="146304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4" name="Text 2"/>
          <p:cNvSpPr txBox="1"/>
          <p:nvPr/>
        </p:nvSpPr>
        <p:spPr>
          <a:xfrm>
            <a:off x="2011680" y="1371600"/>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Energy is not metered in joules. Our own claim MB-ENE-01 fails on us, on purpose.</a:t>
            </a:r>
            <a:endParaRPr lang="en-US" sz="1300" dirty="0"/>
          </a:p>
        </p:txBody>
      </p:sp>
      <p:sp>
        <p:nvSpPr>
          <p:cNvPr id="5" name="Text 3"/>
          <p:cNvSpPr txBox="1"/>
          <p:nvPr/>
        </p:nvSpPr>
        <p:spPr>
          <a:xfrm>
            <a:off x="548640" y="2304288"/>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6" name="Text 4"/>
          <p:cNvSpPr txBox="1"/>
          <p:nvPr/>
        </p:nvSpPr>
        <p:spPr>
          <a:xfrm>
            <a:off x="2011680" y="2212848"/>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Single local keypair, no PKI. Tamper-evident, not tamper-proof: the head hash goes public at session start.</a:t>
            </a:r>
            <a:endParaRPr lang="en-US" sz="1300" dirty="0"/>
          </a:p>
        </p:txBody>
      </p:sp>
      <p:sp>
        <p:nvSpPr>
          <p:cNvPr id="7" name="Text 5"/>
          <p:cNvSpPr txBox="1"/>
          <p:nvPr/>
        </p:nvSpPr>
        <p:spPr>
          <a:xfrm>
            <a:off x="548640" y="3145536"/>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2011680" y="3054096"/>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Origin labels are declared, not proven. The gate enforces the declared policy, it cannot detect a mislabeled origin.</a:t>
            </a:r>
            <a:endParaRPr lang="en-US" sz="1300" dirty="0"/>
          </a:p>
        </p:txBody>
      </p:sp>
      <p:sp>
        <p:nvSpPr>
          <p:cNvPr id="9" name="Text 7"/>
          <p:cNvSpPr txBox="1"/>
          <p:nvPr/>
        </p:nvSpPr>
        <p:spPr>
          <a:xfrm>
            <a:off x="548640" y="3986784"/>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0" name="Text 8"/>
          <p:cNvSpPr txBox="1"/>
          <p:nvPr/>
        </p:nvSpPr>
        <p:spPr>
          <a:xfrm>
            <a:off x="2011680" y="3895344"/>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Synthetic seeded corpus. Recall on real embedding distributions will differ.</a:t>
            </a:r>
            <a:endParaRPr lang="en-US" sz="1300" dirty="0"/>
          </a:p>
        </p:txBody>
      </p:sp>
      <p:sp>
        <p:nvSpPr>
          <p:cNvPr id="11" name="Text 9"/>
          <p:cNvSpPr txBox="1"/>
          <p:nvPr/>
        </p:nvSpPr>
        <p:spPr>
          <a:xfrm>
            <a:off x="548640" y="4828032"/>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2" name="Text 10"/>
          <p:cNvSpPr txBox="1"/>
          <p:nvPr/>
        </p:nvSpPr>
        <p:spPr>
          <a:xfrm>
            <a:off x="2011680" y="4736592"/>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Claims here are about our own system, until the use-case owners declare theirs.</a:t>
            </a:r>
            <a:endParaRPr lang="en-US" sz="1300" dirty="0"/>
          </a:p>
        </p:txBody>
      </p:sp>
      <p:sp>
        <p:nvSpPr>
          <p:cNvPr id="13" name="Text 11"/>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6A6480"/>
                </a:solidFill>
                <a:latin typeface="Courier New" pitchFamily="34" charset="0"/>
                <a:ea typeface="Courier New" pitchFamily="34" charset="-122"/>
                <a:cs typeface="Courier New" pitchFamily="34" charset="-120"/>
              </a:rPr>
              <a:t>Apache-2.0 · zero-dependency core · the adversarial suite ships in the repo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Pilot it on one WP5 claim table</a:t>
            </a:r>
            <a:endParaRPr lang="en-US" sz="3400" dirty="0"/>
          </a:p>
        </p:txBody>
      </p:sp>
      <p:sp>
        <p:nvSpPr>
          <p:cNvPr id="3" name="Text 1"/>
          <p:cNvSpPr txBox="1"/>
          <p:nvPr/>
        </p:nvSpPr>
        <p:spPr>
          <a:xfrm>
            <a:off x="822960" y="2743200"/>
            <a:ext cx="10058400" cy="731520"/>
          </a:xfrm>
          <a:prstGeom prst="rect">
            <a:avLst/>
          </a:prstGeom>
          <a:noFill/>
          <a:ln/>
        </p:spPr>
        <p:txBody>
          <a:bodyPr wrap="square" lIns="0" tIns="0" rIns="0" bIns="0" rtlCol="0" anchor="ctr"/>
          <a:lstStyle/>
          <a:p>
            <a:pPr indent="0" marL="0">
              <a:buNone/>
            </a:pPr>
            <a:r>
              <a:rPr lang="en-US" sz="1600" dirty="0">
                <a:solidFill>
                  <a:srgbClr val="CDC5EE"/>
                </a:solidFill>
                <a:latin typeface="Calibri" pitchFamily="34" charset="0"/>
                <a:ea typeface="Calibri" pitchFamily="34" charset="-122"/>
                <a:cs typeface="Calibri" pitchFamily="34" charset="-120"/>
              </a:rPr>
              <a:t>Thirty minutes with WP5: point the contract at the Table 7 claims, the use-case owners declare the thresholds, the receipts recompute.</a:t>
            </a:r>
            <a:endParaRPr lang="en-US" sz="1600" dirty="0"/>
          </a:p>
        </p:txBody>
      </p:sp>
      <p:sp>
        <p:nvSpPr>
          <p:cNvPr id="4" name="Text 2"/>
          <p:cNvSpPr txBox="1"/>
          <p:nvPr/>
        </p:nvSpPr>
        <p:spPr>
          <a:xfrm>
            <a:off x="822960" y="3611880"/>
            <a:ext cx="10058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Trust in the loop needs evidence in the loop.</a:t>
            </a:r>
            <a:endParaRPr lang="en-US" sz="1600" dirty="0"/>
          </a:p>
        </p:txBody>
      </p:sp>
      <p:sp>
        <p:nvSpPr>
          <p:cNvPr id="5" name="Text 3"/>
          <p:cNvSpPr txBox="1"/>
          <p:nvPr/>
        </p:nvSpPr>
        <p:spPr>
          <a:xfrm>
            <a:off x="822960" y="4343400"/>
            <a:ext cx="10058400" cy="411480"/>
          </a:xfrm>
          <a:prstGeom prst="rect">
            <a:avLst/>
          </a:prstGeom>
          <a:noFill/>
          <a:ln/>
        </p:spPr>
        <p:txBody>
          <a:bodyPr wrap="square" lIns="0" tIns="0" rIns="0" bIns="0" rtlCol="0" anchor="ctr"/>
          <a:lstStyle/>
          <a:p>
            <a:pPr indent="0" marL="0">
              <a:buNone/>
            </a:pPr>
            <a:r>
              <a:rPr lang="en-US" sz="1300" dirty="0">
                <a:solidFill>
                  <a:srgbClr val="CDC5EE"/>
                </a:solidFill>
                <a:latin typeface="Courier New" pitchFamily="34" charset="0"/>
                <a:ea typeface="Courier New" pitchFamily="34" charset="-122"/>
                <a:cs typeface="Courier New" pitchFamily="34" charset="-120"/>
              </a:rPr>
              <a:t>github.com/adambkovacs/manolo-innovation-lab-bench · Apache-2.0 · every verdict replays from the repo</a:t>
            </a:r>
            <a:endParaRPr lang="en-US" sz="1300" dirty="0"/>
          </a:p>
        </p:txBody>
      </p:sp>
      <p:sp>
        <p:nvSpPr>
          <p:cNvPr id="6" name="Text 4"/>
          <p:cNvSpPr txBox="1"/>
          <p:nvPr/>
        </p:nvSpPr>
        <p:spPr>
          <a:xfrm>
            <a:off x="822960" y="516636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16636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8" name="Text 6"/>
          <p:cNvSpPr txBox="1"/>
          <p:nvPr/>
        </p:nvSpPr>
        <p:spPr>
          <a:xfrm>
            <a:off x="3611880" y="516636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2026-08-28T07:45:23Z</dcterms:created>
  <dcterms:modified xsi:type="dcterms:W3CDTF">2026-08-28T07:45:23Z</dcterms:modified>
</cp:coreProperties>
</file>